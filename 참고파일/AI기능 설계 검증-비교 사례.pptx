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B8D3EC"/>
                </a:solidFill>
                <a:latin typeface="맑은 고딕"/>
              </a:rPr>
              <a:t>AI 기능 설계 검증 · 비교 사례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332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FFFFFF"/>
                </a:solidFill>
                <a:latin typeface="맑은 고딕"/>
              </a:rPr>
              <a:t>요구사항에서 아키텍처까지:</a:t>
            </a:r>
          </a:p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FFFFFF"/>
                </a:solidFill>
                <a:latin typeface="맑은 고딕"/>
              </a:rPr>
              <a:t>반복된 실패가 설계를 바꾼 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8D3EC"/>
                </a:solidFill>
                <a:latin typeface="맑은 고딕"/>
              </a:rPr>
              <a:t>dsacontents — 교육 콘텐츠 웹 뷰어 및 관리 시스템 (Google Apps Script + Cloud Run/LangChain)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480"/>
                </a:solidFill>
                <a:latin typeface="맑은 고딕"/>
              </a:rPr>
              <a:t>가상질문 생성 · 강의자료 평가(AI 추가 의견) 개발 기록 기반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563A8"/>
                </a:solidFill>
                <a:latin typeface="맑은 고딕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2E4A"/>
                </a:solidFill>
                <a:latin typeface="맑은 고딕"/>
              </a:rPr>
              <a:t>목차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38100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822960" cy="8229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563A8"/>
                </a:solidFill>
                <a:latin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755648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F2E4A"/>
                </a:solidFill>
                <a:latin typeface="맑은 고딕"/>
              </a:rPr>
              <a:t>가상질문 생성 기능의 설계 변천사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17627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480"/>
                </a:solidFill>
                <a:latin typeface="맑은 고딕"/>
              </a:rPr>
              <a:t>교사+학생 시뮬레이션 → 학생 전용 배치 파이프라인 → 단일요청 온디맨드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80360"/>
            <a:ext cx="822960" cy="8229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8036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563A8"/>
                </a:solidFill>
                <a:latin typeface="맑은 고딕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898648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F2E4A"/>
                </a:solidFill>
                <a:latin typeface="맑은 고딕"/>
              </a:rPr>
              <a:t>강의자료 평가 “AI 추가 의견” — 단일 호출 vs 2단계 분리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31927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480"/>
                </a:solidFill>
                <a:latin typeface="맑은 고딕"/>
              </a:rPr>
              <a:t>도구 바인딩이 지시 순응도에 미치는 영향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023360"/>
            <a:ext cx="822960" cy="8229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563A8"/>
                </a:solidFill>
                <a:latin typeface="맑은 고딕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041648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F2E4A"/>
                </a:solidFill>
                <a:latin typeface="맑은 고딕"/>
              </a:rPr>
              <a:t>같은 기능의 토큰/데이터 크기 비교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46227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480"/>
                </a:solidFill>
                <a:latin typeface="맑은 고딕"/>
              </a:rPr>
              <a:t>원본 재전송 vs 파생 압축 표현 재사용 — 레이트리밋과 실행시간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166360"/>
            <a:ext cx="822960" cy="8229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16636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563A8"/>
                </a:solidFill>
                <a:latin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5184648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F2E4A"/>
                </a:solidFill>
                <a:latin typeface="맑은 고딕"/>
              </a:rPr>
              <a:t>종합 인사이트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560527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480"/>
                </a:solidFill>
                <a:latin typeface="맑은 고딕"/>
              </a:rPr>
              <a:t>세 사례를 관통하는 공통 설계 원칙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36576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B8D3EC"/>
                </a:solidFill>
                <a:latin typeface="맑은 고딕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맑은 고딕"/>
              </a:rPr>
              <a:t>가상질문 생성 기능의 설계 변천사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D3EC"/>
                </a:solidFill>
                <a:latin typeface="맑은 고딕"/>
              </a:rPr>
              <a:t>4개 학생 에이전트 · LangGraph 기반 질문 생성 파이프라인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563A8"/>
                </a:solidFill>
                <a:latin typeface="맑은 고딕"/>
              </a:rPr>
              <a:t>SECTION 01 — 설계 1단계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2E4A"/>
                </a:solidFill>
                <a:latin typeface="맑은 고딕"/>
              </a:rPr>
              <a:t>최초 구상: 교사+학생 상호작용 시뮬레이션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38100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212080" cy="44805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563A8"/>
                </a:solidFill>
                <a:latin typeface="맑은 고딕"/>
              </a:rPr>
              <a:t>초기 설계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50">
                <a:solidFill>
                  <a:srgbClr val="3A424D"/>
                </a:solidFill>
                <a:latin typeface="맑은 고딕"/>
              </a:rPr>
              <a:t>▪ 학생 에이전트 4종 + 캐릭터가 부여된 강사 에이전트까지 포함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50">
                <a:solidFill>
                  <a:srgbClr val="3A424D"/>
                </a:solidFill>
                <a:latin typeface="맑은 고딕"/>
              </a:rPr>
              <a:t>▪ 학생이 슬라이드를 앞에서부터 읽으며 궁금한 점을 강사에게 질문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50">
                <a:solidFill>
                  <a:srgbClr val="3A424D"/>
                </a:solidFill>
                <a:latin typeface="맑은 고딕"/>
              </a:rPr>
              <a:t>▪ 강사의 설명을 들은 뒤 다음 구간으로 진행, 다시 질문하는 순환 구조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50">
                <a:solidFill>
                  <a:srgbClr val="3A424D"/>
                </a:solidFill>
                <a:latin typeface="맑은 고딕"/>
              </a:rPr>
              <a:t>▪ “가상의 수업 진행 결과” 전체를 기록으로 남기는 것이 목표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54480"/>
            <a:ext cx="5349240" cy="4480560"/>
          </a:xfrm>
          <a:prstGeom prst="rect">
            <a:avLst/>
          </a:prstGeom>
          <a:solidFill>
            <a:srgbClr val="FFFFFF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0392B"/>
                </a:solidFill>
                <a:latin typeface="맑은 고딕"/>
              </a:rPr>
              <a:t>폐기 사유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48840"/>
            <a:ext cx="4892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50">
                <a:solidFill>
                  <a:srgbClr val="3A424D"/>
                </a:solidFill>
                <a:latin typeface="맑은 고딕"/>
              </a:rPr>
              <a:t>▪ 질문→답변→재학습이 반복되는 상호작용은 매 사이클마다 교사·학생 양쪽 에이전트를 오가야 해 호출 구조가 급격히 복잡해짐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50">
                <a:solidFill>
                  <a:srgbClr val="3A424D"/>
                </a:solidFill>
                <a:latin typeface="맑은 고딕"/>
              </a:rPr>
              <a:t>▪ 기능의 실제 목적은 “강의자료가 학습자 입장에서 어디서 막히는가” 파악 — 즉 질문이 어디서 나오는지만 알면 충분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50">
                <a:solidFill>
                  <a:srgbClr val="3A424D"/>
                </a:solidFill>
                <a:latin typeface="맑은 고딕"/>
              </a:rPr>
              <a:t>▪ 강사 응답을 시뮬레이션하는 절반의 로직이 목적 달성에 불필요한 복잡도로 판단됨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26364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E4A"/>
                </a:solidFill>
                <a:latin typeface="맑은 고딕"/>
              </a:rPr>
              <a:t>→ 결론: 강사 에이전트를 걷어내고 “학생 전용 · 답변 없이 질문만 기록” 구조로 단순화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563A8"/>
                </a:solidFill>
                <a:latin typeface="맑은 고딕"/>
              </a:rPr>
              <a:t>SECTION 01 — 설계 2단계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2E4A"/>
                </a:solidFill>
                <a:latin typeface="맑은 고딕"/>
              </a:rPr>
              <a:t>1차 설계 확정: 배치 기반 순차 진행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38100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3A424D"/>
                </a:solidFill>
                <a:latin typeface="맑은 고딕"/>
              </a:rPr>
              <a:t>요구사항: “LangGraph · 에이전트 반드시 사용” 명시 → 슬라이드를 배치 단위로 나눠 순차 진행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2468880" cy="777240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2194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배치 크기 규칙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2148840"/>
            <a:ext cx="8138160" cy="77724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148840"/>
            <a:ext cx="7772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3A424D"/>
                </a:solidFill>
                <a:latin typeface="맑은 고딕"/>
              </a:rPr>
              <a:t>전체 슬라이드 수 × 10%, 단 최소 3장 · 최대 15장으로 clamp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081528"/>
            <a:ext cx="2468880" cy="777240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81528"/>
            <a:ext cx="2194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적용 대상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3081528"/>
            <a:ext cx="8138160" cy="77724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3081528"/>
            <a:ext cx="7772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3A424D"/>
                </a:solidFill>
                <a:latin typeface="맑은 고딕"/>
              </a:rPr>
              <a:t>학생 페르소나 4종(초심자 · 비전공/따라가는중 · 전공이론파 · 실무경험자)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014216"/>
            <a:ext cx="2468880" cy="777240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014216"/>
            <a:ext cx="2194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진행 방식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4014216"/>
            <a:ext cx="8138160" cy="77724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4014216"/>
            <a:ext cx="7772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3A424D"/>
                </a:solidFill>
                <a:latin typeface="맑은 고딕"/>
              </a:rPr>
              <a:t>배치를 앞에서부터 순서대로 읽으며, 그 시점까지의 내용만 근거로 질문 생성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946904"/>
            <a:ext cx="2468880" cy="777240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946904"/>
            <a:ext cx="2194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답변 처리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4946904"/>
            <a:ext cx="8138160" cy="77724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4946904"/>
            <a:ext cx="7772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3A424D"/>
                </a:solidFill>
                <a:latin typeface="맑은 고딕"/>
              </a:rPr>
              <a:t>답변 없음 — 질문은 그대로 기록, 이후 배치에서 해소되어도 삭제하지 않음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563A8"/>
                </a:solidFill>
                <a:latin typeface="맑은 고딕"/>
              </a:rPr>
              <a:t>SECTION 01 — 설계 3단계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2E4A"/>
                </a:solidFill>
                <a:latin typeface="맑은 고딕"/>
              </a:rPr>
              <a:t>6가지 확인포인트로 설계 조율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38100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881360" cy="75895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4572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563A8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554480"/>
            <a:ext cx="233172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F2E4A"/>
                </a:solidFill>
                <a:latin typeface="맑은 고딕"/>
              </a:rPr>
              <a:t>배치 크기 극단값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609344"/>
            <a:ext cx="7589520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3A424D"/>
                </a:solidFill>
                <a:latin typeface="맑은 고딕"/>
              </a:rPr>
              <a:t>슬라이드가 매우 적거나(&lt;3장) 200장을 넘는 경우 clamp 규칙으로 처리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13432"/>
            <a:ext cx="10881360" cy="758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13432"/>
            <a:ext cx="4572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563A8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313432"/>
            <a:ext cx="233172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F2E4A"/>
                </a:solidFill>
                <a:latin typeface="맑은 고딕"/>
              </a:rPr>
              <a:t>컨텍스트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368296"/>
            <a:ext cx="7589520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3A424D"/>
                </a:solidFill>
                <a:latin typeface="맑은 고딕"/>
              </a:rPr>
              <a:t>전체 50장 기준: 이하는 지나온 배치 원문 누적, 초과 시 배치별 요약(batch_summary)을 구조화 출력에 함께 실어 별도 호출 없이 누적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072384"/>
            <a:ext cx="10881360" cy="75895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072384"/>
            <a:ext cx="4572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563A8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072384"/>
            <a:ext cx="233172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F2E4A"/>
                </a:solidFill>
                <a:latin typeface="맑은 고딕"/>
              </a:rPr>
              <a:t>“질문 없음” 정상화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127248"/>
            <a:ext cx="7589520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3A424D"/>
                </a:solidFill>
                <a:latin typeface="맑은 고딕"/>
              </a:rPr>
              <a:t>의견 요약 기능에서 겪은 hallucination 패턴(부실한 내용에도 억지로 답을 지어내는 문제) 재발 방지 — 내용이 부실하거나 중복되면 빈 리스트 허용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831336"/>
            <a:ext cx="10881360" cy="758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831336"/>
            <a:ext cx="4572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563A8"/>
                </a:solidFill>
                <a:latin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831336"/>
            <a:ext cx="233172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F2E4A"/>
                </a:solidFill>
                <a:latin typeface="맑은 고딕"/>
              </a:rPr>
              <a:t>최종 필터링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3886200"/>
            <a:ext cx="7589520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3A424D"/>
                </a:solidFill>
                <a:latin typeface="맑은 고딕"/>
              </a:rPr>
              <a:t>배치별로 반복되는 유사 질문을 걸러내는 필터링 노드를 그래프 마지막에 추가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590288"/>
            <a:ext cx="10881360" cy="75895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590288"/>
            <a:ext cx="4572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563A8"/>
                </a:solidFill>
                <a:latin typeface="맑은 고딕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590288"/>
            <a:ext cx="233172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F2E4A"/>
                </a:solidFill>
                <a:latin typeface="맑은 고딕"/>
              </a:rPr>
              <a:t>호출 횟수 · 지연시간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4645152"/>
            <a:ext cx="7589520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3A424D"/>
                </a:solidFill>
                <a:latin typeface="맑은 고딕"/>
              </a:rPr>
              <a:t>배치 수 × 페르소나 수 조합의 실측 필요성 제기 (다음 슬라이드에서 문제로 확인됨)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349240"/>
            <a:ext cx="10881360" cy="758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349240"/>
            <a:ext cx="4572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563A8"/>
                </a:solidFill>
                <a:latin typeface="맑은 고딕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349240"/>
            <a:ext cx="233172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F2E4A"/>
                </a:solidFill>
                <a:latin typeface="맑은 고딕"/>
              </a:rPr>
              <a:t>화면 표시 형식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4760" y="5404104"/>
            <a:ext cx="7589520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3A424D"/>
                </a:solidFill>
                <a:latin typeface="맑은 고딕"/>
              </a:rPr>
              <a:t>페르소나 소개를 섹션 상단에 한 번, 그 아래 진도(배치) 순서대로 질문 나열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181344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563A8"/>
                </a:solidFill>
                <a:latin typeface="맑은 고딕"/>
              </a:rPr>
              <a:t>→ 1차 그래프 확정: START → read_batch(조건부 엣지 루프) → filter_questions → 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563A8"/>
                </a:solidFill>
                <a:latin typeface="맑은 고딕"/>
              </a:rPr>
              <a:t>SECTION 01 — 결정적 피벗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2E4A"/>
                </a:solidFill>
                <a:latin typeface="맑은 고딕"/>
              </a:rPr>
              <a:t>문제: 4페르소나 동시 생성의 대가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38100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3A424D"/>
                </a:solidFill>
                <a:latin typeface="맑은 고딕"/>
              </a:rPr>
              <a:t>애초 설계는 버튼 한 번으로 4개 페르소나를 동시에 생성하는 것을 전제로 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5120640" cy="1828800"/>
          </a:xfrm>
          <a:prstGeom prst="rect">
            <a:avLst/>
          </a:prstGeom>
          <a:solidFill>
            <a:srgbClr val="1F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8D3EC"/>
                </a:solidFill>
                <a:latin typeface="맑은 고딕"/>
              </a:rPr>
              <a:t>최악의 호출 횟수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맑은 고딕"/>
              </a:rPr>
              <a:t>배치(최대 10개) × 페르소나(4명)</a:t>
            </a:r>
          </a:p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맑은 고딕"/>
              </a:rPr>
              <a:t>= 40회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2148840"/>
            <a:ext cx="5532120" cy="1828800"/>
          </a:xfrm>
          <a:prstGeom prst="rect">
            <a:avLst/>
          </a:prstGeom>
          <a:solidFill>
            <a:srgbClr val="4A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3317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B0A0"/>
                </a:solidFill>
                <a:latin typeface="맑은 고딕"/>
              </a:rPr>
              <a:t>부딪힌 제약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6974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FFFFFF"/>
                </a:solidFill>
                <a:latin typeface="맑은 고딕"/>
              </a:rPr>
              <a:t>▪ Cloud Run 요청 타임아웃(기본 300초)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FFFFFF"/>
                </a:solidFill>
                <a:latin typeface="맑은 고딕"/>
              </a:rPr>
              <a:t>▪ GAS 스크립트 실행 한도(6분)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FFFFFF"/>
                </a:solidFill>
                <a:latin typeface="맑은 고딕"/>
              </a:rPr>
              <a:t>▪ 인스턴스 스케일다운 중 백그라운드 작업 소실 위험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2E4A"/>
                </a:solidFill>
                <a:latin typeface="맑은 고딕"/>
              </a:rPr>
              <a:t>그리고 병렬 처리 특유의 조율 문제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0600"/>
            <a:ext cx="10881360" cy="10515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00600"/>
            <a:ext cx="103327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A424D"/>
                </a:solidFill>
                <a:latin typeface="맑은 고딕"/>
              </a:rPr>
              <a:t>“가장 느린 페르소나를 기다리는” 병렬 조율 문제 — 4개 체인 중 하나라도 느려지면 전체 응답 시간이 그 체인에 종속됨. 배치는 페르소나 안에서 순차(직렬) 의존이라 페르소나 간 병렬만 가능해 근본적인 회피가 어려움.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563A8"/>
                </a:solidFill>
                <a:latin typeface="맑은 고딕"/>
              </a:rPr>
              <a:t>SECTION 01 — 결정적 피벗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2E4A"/>
                </a:solidFill>
                <a:latin typeface="맑은 고딕"/>
              </a:rPr>
              <a:t>해결: 요청 단위를 쪼개 병렬성 자체를 제거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38100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3A424D"/>
                </a:solidFill>
                <a:latin typeface="맑은 고딕"/>
              </a:rPr>
              <a:t>“가상질문 생성 → 학생 선택 → 그 학생 1명에 대해서만 요청” 단일 요청 · 온디맨드 방식으로 전환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103120"/>
          <a:ext cx="1088136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069080"/>
                <a:gridCol w="4069080"/>
              </a:tblGrid>
              <a:tr h="57607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 marL="109728" marR="109728" marT="54864" marB="54864"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AS-IS (4페르소나 동시)</a:t>
                      </a:r>
                    </a:p>
                  </a:txBody>
                  <a:tcPr anchor="ctr" marL="109728" marR="109728" marT="54864" marB="54864"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TO-BE (1페르소나 온디맨드)</a:t>
                      </a:r>
                    </a:p>
                  </a:txBody>
                  <a:tcPr anchor="ctr" marL="109728" marR="109728" marT="54864" marB="54864">
                    <a:solidFill>
                      <a:srgbClr val="2563A8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A424D"/>
                          </a:solidFill>
                          <a:latin typeface="맑은 고딕"/>
                        </a:rPr>
                        <a:t>배치 분할</a:t>
                      </a:r>
                    </a:p>
                  </a:txBody>
                  <a:tcPr anchor="ctr" marL="109728" marR="109728" marT="54864" marB="54864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0392B"/>
                          </a:solidFill>
                          <a:latin typeface="맑은 고딕"/>
                        </a:rPr>
                        <a:t>전체의 10% 동적 분할(3~15장 clamp)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7B4D"/>
                          </a:solidFill>
                          <a:latin typeface="맑은 고딕"/>
                        </a:rPr>
                        <a:t>초/중/후반 3구간(Part 1/2/3) 고정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A424D"/>
                          </a:solidFill>
                          <a:latin typeface="맑은 고딕"/>
                        </a:rPr>
                        <a:t>요청 단위</a:t>
                      </a:r>
                    </a:p>
                  </a:txBody>
                  <a:tcPr anchor="ctr" marL="109728" marR="109728" marT="54864" marB="54864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0392B"/>
                          </a:solidFill>
                          <a:latin typeface="맑은 고딕"/>
                        </a:rPr>
                        <a:t>버튼 1회 → 4개 체인 동시 실행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7B4D"/>
                          </a:solidFill>
                          <a:latin typeface="맑은 고딕"/>
                        </a:rPr>
                        <a:t>학생 선택 시마다 1개 체인 실행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A424D"/>
                          </a:solidFill>
                          <a:latin typeface="맑은 고딕"/>
                        </a:rPr>
                        <a:t>호출 횟수(최악)</a:t>
                      </a:r>
                    </a:p>
                  </a:txBody>
                  <a:tcPr anchor="ctr" marL="109728" marR="109728" marT="54864" marB="54864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0392B"/>
                          </a:solidFill>
                          <a:latin typeface="맑은 고딕"/>
                        </a:rPr>
                        <a:t>배치 10개 × 페르소나 4명 = 40회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7B4D"/>
                          </a:solidFill>
                          <a:latin typeface="맑은 고딕"/>
                        </a:rPr>
                        <a:t>배치 3회 + 필터링 1회 = 4회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A424D"/>
                          </a:solidFill>
                          <a:latin typeface="맑은 고딕"/>
                        </a:rPr>
                        <a:t>예상 소요시간</a:t>
                      </a:r>
                    </a:p>
                  </a:txBody>
                  <a:tcPr anchor="ctr" marL="109728" marR="109728" marT="54864" marB="54864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0392B"/>
                          </a:solidFill>
                          <a:latin typeface="맑은 고딕"/>
                        </a:rPr>
                        <a:t>병렬 조율 필요, 가장 느린 체인에 종속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7B4D"/>
                          </a:solidFill>
                          <a:latin typeface="맑은 고딕"/>
                        </a:rPr>
                        <a:t>약 16~20초 (60초 한도 대비 3배 여유)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25780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F2E4A"/>
                </a:solidFill>
                <a:latin typeface="맑은 고딕"/>
              </a:rPr>
              <a:t>이는 단순 튜닝이 아니라 관점의 전환이다 — 병렬 처리로 지연시간을 줄이려던 접근을, 애초에 병렬이 필요 없도록 요청 단위 자체를 쪼개는 방향으로 뒤집었다. 동시에 캐시(이미 생성된 결과가 있으면 즉시 반환) 정책을 더해 반복 열람 시의 불필요한 재계산도 제거했다.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563A8"/>
                </a:solidFill>
                <a:latin typeface="맑은 고딕"/>
              </a:rPr>
              <a:t>SECTION 01 — 마지막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2E4A"/>
                </a:solidFill>
                <a:latin typeface="맑은 고딕"/>
              </a:rPr>
              <a:t>페르소나 정의: 코드 하드코딩 → 데이터 계층으로 이동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38100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2120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6B7480"/>
                </a:solidFill>
                <a:latin typeface="맑은 고딕"/>
              </a:rPr>
              <a:t>AS-IS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50">
                <a:solidFill>
                  <a:srgbClr val="3A424D"/>
                </a:solidFill>
                <a:latin typeface="맑은 고딕"/>
              </a:rPr>
              <a:t>▪ 페르소나 4종의 이름 · 설명 · 성격 프롬프트가 애플리케이션 코드에 하드코딩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50">
                <a:solidFill>
                  <a:srgbClr val="3A424D"/>
                </a:solidFill>
                <a:latin typeface="맑은 고딕"/>
              </a:rPr>
              <a:t>▪ persona_id는 코드에 나열된 값 목록에 대한 CHECK 제약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50">
                <a:solidFill>
                  <a:srgbClr val="3A424D"/>
                </a:solidFill>
                <a:latin typeface="맑은 고딕"/>
              </a:rPr>
              <a:t>▪ 새 페르소나 추가·수정 시 코드 변경 + 재배포 필요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54480"/>
            <a:ext cx="5349240" cy="429768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563A8"/>
                </a:solidFill>
                <a:latin typeface="맑은 고딕"/>
              </a:rPr>
              <a:t>TO-BE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48840"/>
            <a:ext cx="48920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50">
                <a:solidFill>
                  <a:srgbClr val="3A424D"/>
                </a:solidFill>
                <a:latin typeface="맑은 고딕"/>
              </a:rPr>
              <a:t>▪ virtual_question_personas 테이블 신설 — 이름 · 설명 · 프롬프트 · 표시순서 · 활성여부를 행 데이터로 관리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50">
                <a:solidFill>
                  <a:srgbClr val="3A424D"/>
                </a:solidFill>
                <a:latin typeface="맑은 고딕"/>
              </a:rPr>
              <a:t>▪ virtual_questions.persona_id를 하드코딩 CHECK 대신 이 테이블을 참조하는 FK로 전환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50">
                <a:solidFill>
                  <a:srgbClr val="3A424D"/>
                </a:solidFill>
                <a:latin typeface="맑은 고딕"/>
              </a:rPr>
              <a:t>▪ 신규 페르소나 추가 = 테이블 행 1개 삽입, 코드 변경 불필요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50">
                <a:solidFill>
                  <a:srgbClr val="3A424D"/>
                </a:solidFill>
                <a:latin typeface="맑은 고딕"/>
              </a:rPr>
              <a:t>▪ 폐기 시에도 과거 생성 결과가 FK로 참조 중이므로 삭제 대신 active=false로 안전하게 숨김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8932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F2E4A"/>
                </a:solidFill>
                <a:latin typeface="맑은 고딕"/>
              </a:rPr>
              <a:t>설계 원칙: 요구사항 변경 가능성이 높은 부분(페르소나 구성)은 코드가 아니라 데이터 계층에서 흡수한다.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36576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B8D3EC"/>
                </a:solidFill>
                <a:latin typeface="맑은 고딕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맑은 고딕"/>
              </a:rPr>
              <a:t>강의자료 평가 “AI 추가 의견”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D3EC"/>
                </a:solidFill>
                <a:latin typeface="맑은 고딕"/>
              </a:rPr>
              <a:t>단일 호출 vs 2단계 분리 — 도구 바인딩이 지시 순응도에 미치는 영향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563A8"/>
                </a:solidFill>
                <a:latin typeface="맑은 고딕"/>
              </a:rPr>
              <a:t>SECTION 02 —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2E4A"/>
                </a:solidFill>
                <a:latin typeface="맑은 고딕"/>
              </a:rPr>
              <a:t>기능 요구사항: 웹검색 기반 “AI 추가 의견”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38100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550">
                <a:solidFill>
                  <a:srgbClr val="3A424D"/>
                </a:solidFill>
                <a:latin typeface="맑은 고딕"/>
              </a:rPr>
              <a:t>▪ 강의자료 평가 리포트의 마지막 섹션 — 슬라이드 내용 중 현재 시점 기준으로 오래되었거나 최신 버전/기술과 맞지 않는 부분을 웹검색으로 확인해 참고 의견으로 제공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550">
                <a:solidFill>
                  <a:srgbClr val="3A424D"/>
                </a:solidFill>
                <a:latin typeface="맑은 고딕"/>
              </a:rPr>
              <a:t>▪ OpenAI 내장 웹검색 도구(Responses API의 web_search_preview, 호스티드 도구) 채택 — 별도 검색 API 키 없이 기존 OPENAI_KEY로 사용 가능, “전부 OpenAI로 통일” 정책과도 부합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550">
                <a:solidFill>
                  <a:srgbClr val="3A424D"/>
                </a:solidFill>
                <a:latin typeface="맑은 고딕"/>
              </a:rPr>
              <a:t>▪ 요구 조건: 한국어로 작성 · 마크다운 링크 금지(화면이 마크다운을 렌더링하지 않음) · 목록 나열이 아닌 2~4문장의 짧은 요약 의견 톤 · 강의 내용과 실제로 연결지어 언급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931920"/>
            <a:ext cx="10881360" cy="1371600"/>
          </a:xfrm>
          <a:prstGeom prst="rect">
            <a:avLst/>
          </a:prstGeom>
          <a:solidFill>
            <a:srgbClr val="1F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8D3EC"/>
                </a:solidFill>
                <a:latin typeface="맑은 고딕"/>
              </a:rPr>
              <a:t>1차 구현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맑은 고딕"/>
              </a:rPr>
              <a:t>검색 도구 바인딩 + 위 스타일 조건 전부를 프롬프트 하나에 담아 단일 호출로 처리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563A8"/>
                </a:solidFill>
                <a:latin typeface="맑은 고딕"/>
              </a:rPr>
              <a:t>SECTION 02 — 실측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2E4A"/>
                </a:solidFill>
                <a:latin typeface="맑은 고딕"/>
              </a:rPr>
              <a:t>3단계에 걸친 실기기 테스트 결과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38100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9728" cy="14813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0392B"/>
                </a:solidFill>
                <a:latin typeface="맑은 고딕"/>
              </a:rPr>
              <a:t>1단계 · 인프라 실패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938528"/>
            <a:ext cx="4206240" cy="960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84248"/>
            <a:ext cx="3977639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3A424D"/>
                </a:solidFill>
                <a:latin typeface="맑은 고딕"/>
              </a:rPr>
              <a:t>결과 자체가 없음 — RateLimitError(429)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554480"/>
            <a:ext cx="6172200" cy="148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3A424D"/>
                </a:solidFill>
                <a:latin typeface="맑은 고딕"/>
              </a:rPr>
              <a:t>핵심 평가 호출 직후 같은 슬라이드 전체 텍스트(143장)를 또 보내며 조직 분당 토큰 한도(TPM 30,000) 초과. 재시도 로직으로 우회했으나 이어서 응답 파싱 단계에서 AttributeError로 전체 요청이 500 에러 처리됨.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145536"/>
            <a:ext cx="109728" cy="148132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45536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8860B"/>
                </a:solidFill>
                <a:latin typeface="맑은 고딕"/>
              </a:rPr>
              <a:t>2단계 · 안정화 후 첫 출력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529584"/>
            <a:ext cx="4206240" cy="960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575304"/>
            <a:ext cx="3977639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3A424D"/>
                </a:solidFill>
                <a:latin typeface="맑은 고딕"/>
              </a:rPr>
              <a:t>“As of August 2, 2026, the latest stable release of PostgreSQL is version 18…”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3145536"/>
            <a:ext cx="6172200" cy="148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3A424D"/>
                </a:solidFill>
                <a:latin typeface="맑은 고딕"/>
              </a:rPr>
              <a:t>호출 자체는 성공(레이트리밋 재시도·파싱 방어 코드 적용 후). 그러나 스타일 지시(한국어·비목록·짧은 요약)가 지켜지지 않음 — 영어 응답, 글머리 기호로 원문 사실을 그대로 나열, 마크다운 링크 [텍스트](주소) 노출.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736592"/>
            <a:ext cx="109728" cy="1481328"/>
          </a:xfrm>
          <a:prstGeom prst="rect">
            <a:avLst/>
          </a:prstGeom>
          <a:solidFill>
            <a:srgbClr val="1E7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73659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7B4D"/>
                </a:solidFill>
                <a:latin typeface="맑은 고딕"/>
              </a:rPr>
              <a:t>3단계 · 2단계 호출 분리 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5120640"/>
            <a:ext cx="4206240" cy="96012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166360"/>
            <a:ext cx="3977639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3A424D"/>
                </a:solidFill>
                <a:latin typeface="맑은 고딕"/>
              </a:rPr>
              <a:t>“이 의견은 AI의 검색 기반 참고 의견이며 실제 학생 데이터와는 무관합니다. PostgreSQL의 최신 안정 버전은 18.4로…”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4736592"/>
            <a:ext cx="6172200" cy="148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3A424D"/>
                </a:solidFill>
                <a:latin typeface="맑은 고딕"/>
              </a:rPr>
              <a:t>검색 전용 호출과 재작성 전용 호출을 분리. 한국어 요약 의견 톤, 마크다운 깨짐 없음, 강의 주제(PostgreSQL/Supabase)와 실제로 연결된 최신 정보로 출력. 실행시간도 오히려 단축.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563A8"/>
                </a:solidFill>
                <a:latin typeface="맑은 고딕"/>
              </a:rPr>
              <a:t>SECTION 02 — 원인 분석과 해결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2E4A"/>
                </a:solidFill>
                <a:latin typeface="맑은 고딕"/>
              </a:rPr>
              <a:t>도구 바인딩이 스타일 지시를 밀어낸다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38100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10881360" cy="1051560"/>
          </a:xfrm>
          <a:prstGeom prst="rect">
            <a:avLst/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7A5C00"/>
                </a:solidFill>
                <a:latin typeface="맑은 고딕"/>
              </a:rPr>
              <a:t>가설: 검색 도구가 바인딩된 호출에서는 모델이 “스타일 지시를 따르기”보다 “찾은 내용을 보고하기”라는 도구 본연의 기본 동작 쪽으로 응답이 쏠린다. 동일 프롬프트 안에 두 종류의 지시(도구 사용 + 출력 형식/언어)가 공존할 때, 도구 사용 맥락이 형식 지시보다 우선시되는 경향이 실측으로 반복 확인됨.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2E4A"/>
                </a:solidFill>
                <a:latin typeface="맑은 고딕"/>
              </a:rPr>
              <a:t>해결: 역할을 분리한 2단계 파이프라인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429000"/>
            <a:ext cx="3291840" cy="1371600"/>
          </a:xfrm>
          <a:prstGeom prst="rect">
            <a:avLst/>
          </a:prstGeom>
          <a:solidFill>
            <a:srgbClr val="1F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B8D3EC"/>
                </a:solidFill>
                <a:latin typeface="맑은 고딕"/>
              </a:rPr>
              <a:t>① 검색 전용 호출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31920"/>
            <a:ext cx="2926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맑은 고딕"/>
              </a:rPr>
              <a:t>웹검색 도구 바인딩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맑은 고딕"/>
              </a:rPr>
              <a:t>언어·형식 지시 없음 — “있는 그대로” 조사 결과만 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3840480"/>
            <a:ext cx="777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2563A8"/>
                </a:solidFill>
                <a:latin typeface="맑은 고딕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3429000"/>
            <a:ext cx="3291840" cy="1371600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356616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맑은 고딕"/>
              </a:rPr>
              <a:t>② 재작성 전용 호출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931920"/>
            <a:ext cx="2926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맑은 고딕"/>
              </a:rPr>
              <a:t>도구 없는 순수 지시-따르기 호출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맑은 고딕"/>
              </a:rPr>
              <a:t>한국어 · 비목록 · 2~4문장 요약으로 재작성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840480"/>
            <a:ext cx="777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2563A8"/>
                </a:solidFill>
                <a:latin typeface="맑은 고딕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18320" y="3429000"/>
            <a:ext cx="2103120" cy="1371600"/>
          </a:xfrm>
          <a:prstGeom prst="rect">
            <a:avLst/>
          </a:prstGeom>
          <a:solidFill>
            <a:srgbClr val="1E7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35661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맑은 고딕"/>
              </a:rPr>
              <a:t>최종 결과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3931920"/>
            <a:ext cx="1828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맑은 고딕"/>
              </a:rPr>
              <a:t>AI 추가 의견</a:t>
            </a:r>
          </a:p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맑은 고딕"/>
              </a:rPr>
              <a:t>(한국어 요약)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663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F2E4A"/>
                </a:solidFill>
                <a:latin typeface="맑은 고딕"/>
              </a:rPr>
              <a:t>핵심 설계 원칙: 한 호출에 서로 다른 성격의 지시(도구 사용 vs 출력 형식)를 함께 부여하지 않는다. 역할이 다른 두 호출로 나누면 각 호출은 “한 가지만 잘하면 되는” 단순한 문제가 되어 지시 순응도가 크게 올라간다.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36576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B8D3EC"/>
                </a:solidFill>
                <a:latin typeface="맑은 고딕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맑은 고딕"/>
              </a:rPr>
              <a:t>같은 기능의 토큰/데이터 크기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D3EC"/>
                </a:solidFill>
                <a:latin typeface="맑은 고딕"/>
              </a:rPr>
              <a:t>원본 재전송 vs 파생 압축 표현 재사용 — 정량 비교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563A8"/>
                </a:solidFill>
                <a:latin typeface="맑은 고딕"/>
              </a:rPr>
              <a:t>SECTION 03 — 문제 상황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2E4A"/>
                </a:solidFill>
                <a:latin typeface="맑은 고딕"/>
              </a:rPr>
              <a:t>핵심 평가 직후 같은 원문을 또 보낸 대가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38100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3A424D"/>
                </a:solidFill>
                <a:latin typeface="맑은 고딕"/>
              </a:rPr>
              <a:t>강의자료 평가는 1회 실행 안에서 “핵심 평가”와 “웹검색” 두 번의 LLM 호출을 순차로 수행한다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A424D"/>
                </a:solidFill>
                <a:latin typeface="맑은 고딕"/>
              </a:rPr>
              <a:t>핵심 평가 사용량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2377440"/>
            <a:ext cx="3769790" cy="502920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98790" y="2377440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563A8"/>
                </a:solidFill>
                <a:latin typeface="맑은 고딕"/>
              </a:rPr>
              <a:t>11,668 토큰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A424D"/>
                </a:solidFill>
                <a:latin typeface="맑은 고딕"/>
              </a:rPr>
              <a:t>웹검색 요청량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3063240"/>
            <a:ext cx="6088593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17593" y="3063240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0392B"/>
                </a:solidFill>
                <a:latin typeface="맑은 고딕"/>
              </a:rPr>
              <a:t>18,845 토큰  (거부됨)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3794760"/>
            <a:ext cx="9692640" cy="25400"/>
          </a:xfrm>
          <a:prstGeom prst="rect">
            <a:avLst/>
          </a:prstGeom>
          <a:solidFill>
            <a:srgbClr val="1F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38862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2E4A"/>
                </a:solidFill>
                <a:latin typeface="맑은 고딕"/>
              </a:rPr>
              <a:t>조직 분당 토큰 한도(TPM) 30,000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663440"/>
            <a:ext cx="10881360" cy="1234440"/>
          </a:xfrm>
          <a:prstGeom prst="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663440"/>
            <a:ext cx="103327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C0392B"/>
                </a:solidFill>
                <a:latin typeface="맑은 고딕"/>
              </a:rPr>
              <a:t>11,668(이미 사용) + 18,845(신규 요청) = 30,513 토큰 &gt; 30,000 TPM 한도</a:t>
            </a:r>
          </a:p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C0392B"/>
                </a:solidFill>
                <a:latin typeface="맑은 고딕"/>
              </a:rPr>
              <a:t>→ RateLimitError(429), “1.026초 후 재시도” 안내와 함께 순간적으로 거부됨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563A8"/>
                </a:solidFill>
                <a:latin typeface="맑은 고딕"/>
              </a:rPr>
              <a:t>SECTION 03 — 해결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2E4A"/>
                </a:solidFill>
                <a:latin typeface="맑은 고딕"/>
              </a:rPr>
              <a:t>원본 재전송 → 파생된 압축 표현 재사용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38100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5212080" cy="19202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B7480"/>
                </a:solidFill>
                <a:latin typeface="맑은 고딕"/>
              </a:rPr>
              <a:t>AS-IS: 슬라이드 전체 원문 재전송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6634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3A424D"/>
                </a:solidFill>
                <a:latin typeface="맑은 고딕"/>
              </a:rPr>
              <a:t>웹검색 호출 입력 = slide_text (143장 전체)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3A424D"/>
                </a:solidFill>
                <a:latin typeface="맑은 고딕"/>
              </a:rPr>
              <a:t>≈ 11,000자 이상, 핵심 평가와 동일한 원본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00200"/>
            <a:ext cx="5349240" cy="192024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563A8"/>
                </a:solidFill>
                <a:latin typeface="맑은 고딕"/>
              </a:rPr>
              <a:t>TO-BE: 파생된 압축 요약 재사용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48840"/>
            <a:ext cx="4892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3A424D"/>
                </a:solidFill>
                <a:latin typeface="맑은 고딕"/>
              </a:rPr>
              <a:t>웹검색 호출 입력 = core.structure_review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3A424D"/>
                </a:solidFill>
                <a:latin typeface="맑은 고딕"/>
              </a:rPr>
              <a:t>(핵심 평가가 이미 만든 수백 토큰 수준의 요약)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3A424D"/>
                </a:solidFill>
                <a:latin typeface="맑은 고딕"/>
              </a:rPr>
              <a:t>→ 슬라이드 원문을 다시 읽을 필요 없이, 이미 압축된 파생 데이터를 재사용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947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2E4A"/>
                </a:solidFill>
                <a:latin typeface="맑은 고딕"/>
              </a:rPr>
              <a:t>정량 비교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" y="4251960"/>
          <a:ext cx="10881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931920"/>
                <a:gridCol w="3931920"/>
              </a:tblGrid>
              <a:tr h="53721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 anchor="ctr" marL="109728" marR="109728" marT="54864" marB="54864"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AS-IS (원문 재전송)</a:t>
                      </a:r>
                    </a:p>
                  </a:txBody>
                  <a:tcPr anchor="ctr" marL="109728" marR="109728" marT="54864" marB="54864"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TO-BE (파생 요약 재사용)</a:t>
                      </a:r>
                    </a:p>
                  </a:txBody>
                  <a:tcPr anchor="ctr" marL="109728" marR="109728" marT="54864" marB="54864">
                    <a:solidFill>
                      <a:srgbClr val="2563A8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A424D"/>
                          </a:solidFill>
                          <a:latin typeface="맑은 고딕"/>
                        </a:rPr>
                        <a:t>웹검색 입력 크기</a:t>
                      </a:r>
                    </a:p>
                  </a:txBody>
                  <a:tcPr anchor="ctr" marL="109728" marR="109728" marT="54864" marB="54864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0392B"/>
                          </a:solidFill>
                          <a:latin typeface="맑은 고딕"/>
                        </a:rPr>
                        <a:t>슬라이드 전체 원문 (~143장)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7B4D"/>
                          </a:solidFill>
                          <a:latin typeface="맑은 고딕"/>
                        </a:rPr>
                        <a:t>구조 검토 요약 1건 (수백 토큰)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A424D"/>
                          </a:solidFill>
                          <a:latin typeface="맑은 고딕"/>
                        </a:rPr>
                        <a:t>레이트리밋(429) 발생</a:t>
                      </a:r>
                    </a:p>
                  </a:txBody>
                  <a:tcPr anchor="ctr" marL="109728" marR="109728" marT="54864" marB="54864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0392B"/>
                          </a:solidFill>
                          <a:latin typeface="맑은 고딕"/>
                        </a:rPr>
                        <a:t>발생 (TPM 한도 초과)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7B4D"/>
                          </a:solidFill>
                          <a:latin typeface="맑은 고딕"/>
                        </a:rPr>
                        <a:t>미발생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A424D"/>
                          </a:solidFill>
                          <a:latin typeface="맑은 고딕"/>
                        </a:rPr>
                        <a:t>전체 실행시간</a:t>
                      </a:r>
                    </a:p>
                  </a:txBody>
                  <a:tcPr anchor="ctr" marL="109728" marR="109728" marT="54864" marB="54864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0392B"/>
                          </a:solidFill>
                          <a:latin typeface="맑은 고딕"/>
                        </a:rPr>
                        <a:t>약 40초 (재시도 대기 포함)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7B4D"/>
                          </a:solidFill>
                          <a:latin typeface="맑은 고딕"/>
                        </a:rPr>
                        <a:t>이전보다 단축 (실측)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563A8"/>
                </a:solidFill>
                <a:latin typeface="맑은 고딕"/>
              </a:rPr>
              <a:t>SECTION 03 — 시사점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2E4A"/>
                </a:solidFill>
                <a:latin typeface="맑은 고딕"/>
              </a:rPr>
              <a:t>“더 많은 원본 데이터”가 항상 더 나은 근거는 아니다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38100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881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2000"/>
              </a:spcAft>
            </a:pPr>
            <a:r>
              <a:rPr sz="1600">
                <a:solidFill>
                  <a:srgbClr val="3A424D"/>
                </a:solidFill>
                <a:latin typeface="맑은 고딕"/>
              </a:rPr>
              <a:t>▪ 같은 프로세스 내에서 이미 생성된 파생 데이터(요약)가 존재한다면, 원본을 다시 읽기보다 그 파생 데이터를 재사용하는 것이 토큰 비용·지연시간·안정성 세 가지 모두에서 유리했다</a:t>
            </a:r>
          </a:p>
          <a:p>
            <a:pPr>
              <a:lnSpc>
                <a:spcPct val="135000"/>
              </a:lnSpc>
              <a:spcAft>
                <a:spcPts val="2000"/>
              </a:spcAft>
            </a:pPr>
            <a:r>
              <a:rPr sz="1600">
                <a:solidFill>
                  <a:srgbClr val="3A424D"/>
                </a:solidFill>
                <a:latin typeface="맑은 고딕"/>
              </a:rPr>
              <a:t>▪ 핵심 평가(structure_review)의 정보 손실은 이 용도(웹검색 맥락 제공)에서는 허용 가능한 트레이드오프였다 — 목적에 따라 “얼마나 압축된 데이터로 충분한가”를 별도로 판단해야 함</a:t>
            </a:r>
          </a:p>
          <a:p>
            <a:pPr>
              <a:lnSpc>
                <a:spcPct val="135000"/>
              </a:lnSpc>
              <a:spcAft>
                <a:spcPts val="2000"/>
              </a:spcAft>
            </a:pPr>
            <a:r>
              <a:rPr sz="1600">
                <a:solidFill>
                  <a:srgbClr val="3A424D"/>
                </a:solidFill>
                <a:latin typeface="맑은 고딕"/>
              </a:rPr>
              <a:t>▪ 레이트리밋은 재시도 로직으로 “증상”은 완화할 수 있지만, 데이터 크기를 줄이는 것이 “원인” 자체를 없애는 더 근본적인 해결이었다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36576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B8D3EC"/>
                </a:solidFill>
                <a:latin typeface="맑은 고딕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맑은 고딕"/>
              </a:rPr>
              <a:t>종합 인사이트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D3EC"/>
                </a:solidFill>
                <a:latin typeface="맑은 고딕"/>
              </a:rPr>
              <a:t>세 사례를 관통하는 공통 설계 원칙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563A8"/>
                </a:solidFill>
                <a:latin typeface="맑은 고딕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2E4A"/>
                </a:solidFill>
                <a:latin typeface="맑은 고딕"/>
              </a:rPr>
              <a:t>세 사례에서 반복적으로 확인된 설계 원칙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38100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502920" cy="1097280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029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1600200"/>
            <a:ext cx="10378440" cy="109728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1691640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F2E4A"/>
                </a:solidFill>
                <a:latin typeface="맑은 고딕"/>
              </a:rPr>
              <a:t>파라미터 조정보다 아키텍처 조정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057400"/>
            <a:ext cx="9784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3A424D"/>
                </a:solidFill>
                <a:latin typeface="맑은 고딕"/>
              </a:rPr>
              <a:t>레이트리밋을 재시도로 완화하는 것보다 입력 데이터 크기 자체를 줄이는 것이, 병렬 호출을 최적화하는 것보다 요청 단위를 쪼개는 것이 더 근본적인 해결이었다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07208"/>
            <a:ext cx="502920" cy="1097280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07208"/>
            <a:ext cx="5029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2807208"/>
            <a:ext cx="10378440" cy="109728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2898648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F2E4A"/>
                </a:solidFill>
                <a:latin typeface="맑은 고딕"/>
              </a:rPr>
              <a:t>한 호출에 한 가지 책임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264408"/>
            <a:ext cx="9784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3A424D"/>
                </a:solidFill>
                <a:latin typeface="맑은 고딕"/>
              </a:rPr>
              <a:t>검색과 스타일 준수를 한 호출에 같이 시키면 지시 순응도가 떨어진다. 역할을 분리하면 각 호출이 단순해지고 결과 품질이 올라간다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014216"/>
            <a:ext cx="502920" cy="1097280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14216"/>
            <a:ext cx="5029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4014216"/>
            <a:ext cx="10378440" cy="109728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7320" y="4105656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F2E4A"/>
                </a:solidFill>
                <a:latin typeface="맑은 고딕"/>
              </a:rPr>
              <a:t>가변적인 것은 데이터로, 고정적인 것은 코드로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471416"/>
            <a:ext cx="9784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3A424D"/>
                </a:solidFill>
                <a:latin typeface="맑은 고딕"/>
              </a:rPr>
              <a:t>페르소나 정의처럼 바뀔 가능성이 높은 부분은 테이블(FK)로 옮기고, 그래프 구조처럼 안정적인 로직만 코드로 남긴다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221224"/>
            <a:ext cx="502920" cy="1097280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221224"/>
            <a:ext cx="5029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5221224"/>
            <a:ext cx="10378440" cy="109728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17320" y="5312664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F2E4A"/>
                </a:solidFill>
                <a:latin typeface="맑은 고딕"/>
              </a:rPr>
              <a:t>실측 없이 확답하지 않는다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678424"/>
            <a:ext cx="9784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3A424D"/>
                </a:solidFill>
                <a:latin typeface="맑은 고딕"/>
              </a:rPr>
              <a:t>호출 횟수·지연시간·토큰량 모두 추정에 그치지 않고 실기기 테스트로 검증한 뒤에야 다음 설계 단계로 넘어갔다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8D3EC"/>
                </a:solidFill>
                <a:latin typeface="맑은 고딕"/>
              </a:rPr>
              <a:t>dsacontents — AI 기능 설계 검증·비교 사례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