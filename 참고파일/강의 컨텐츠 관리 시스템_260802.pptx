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9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</p:sldIdLst>
  <p:sldSz cx="12192000" cy="6858000"/>
  <p:notesSz cx="6858000" cy="9144000"/>
  <p:embeddedFontLst>
    <p:embeddedFont>
      <p:font typeface="Microsoft GothicNeo" panose="020B0500000101010101" pitchFamily="50" charset="-127"/>
      <p:regular r:id="rId30"/>
      <p:bold r:id="rId31"/>
    </p:embeddedFont>
    <p:embeddedFont>
      <p:font typeface="맑은 고딕" panose="020B0503020000020004" pitchFamily="50" charset="-127"/>
      <p:regular r:id="rId32"/>
      <p:bold r:id="rId33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3</a:t>
            </a:fld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6537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0">
                <a:solidFill>
                  <a:schemeClr val="accent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과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32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22729" y="1312433"/>
            <a:ext cx="11494546" cy="5018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4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2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공백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열 내용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열 제목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과 제목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과 제목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2729" y="1312433"/>
            <a:ext cx="11494546" cy="5018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2643" y="6577090"/>
            <a:ext cx="1252537" cy="2143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000" b="0" i="0" u="none" strike="noStrike" cap="none">
          <a:solidFill>
            <a:srgbClr val="000000"/>
          </a:solidFill>
          <a:latin typeface="Microsoft GothicNeo" panose="020B0500000101010101" pitchFamily="50" charset="-127"/>
          <a:ea typeface="Microsoft GothicNeo" panose="020B0500000101010101" pitchFamily="50" charset="-127"/>
          <a:cs typeface="Microsoft GothicNeo" panose="020B0500000101010101" pitchFamily="50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icrosoft GothicNeo" panose="020B0500000101010101" pitchFamily="34" charset="-127"/>
          <a:ea typeface="Microsoft GothicNeo" panose="020B0500000101010101" pitchFamily="34" charset="-127"/>
          <a:cs typeface="Microsoft GothicNeo" panose="020B0500000101010101" pitchFamily="34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 rotWithShape="1">
          <a:blip r:embed="rId3">
            <a:alphaModFix/>
          </a:blip>
          <a:srcRect b="10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>
            <a:spLocks noGrp="1"/>
          </p:cNvSpPr>
          <p:nvPr>
            <p:ph type="ctrTitle"/>
          </p:nvPr>
        </p:nvSpPr>
        <p:spPr>
          <a:xfrm>
            <a:off x="5055470" y="2227085"/>
            <a:ext cx="7136530" cy="96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lang="en-US"/>
              <a:t>교육 콘텐츠 관리 플랫폼</a:t>
            </a: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1"/>
          </p:nvPr>
        </p:nvSpPr>
        <p:spPr>
          <a:xfrm>
            <a:off x="5158956" y="3089042"/>
            <a:ext cx="6929557" cy="46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None/>
            </a:pPr>
            <a:r>
              <a:rPr sz="2000"/>
              <a:t>교육 콘텐츠 웹 뷰어 및 </a:t>
            </a:r>
            <a:r>
              <a:rPr lang="en-US" sz="2000"/>
              <a:t>AI </a:t>
            </a:r>
            <a:r>
              <a:rPr sz="2000"/>
              <a:t>관리 시스템 </a:t>
            </a:r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6CDA9-D9AC-D101-B3AE-A0E0D8531AC5}"/>
              </a:ext>
            </a:extLst>
          </p:cNvPr>
          <p:cNvSpPr txBox="1"/>
          <p:nvPr/>
        </p:nvSpPr>
        <p:spPr>
          <a:xfrm>
            <a:off x="9345705" y="4874558"/>
            <a:ext cx="2680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학과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</a:t>
            </a:r>
            <a:r>
              <a:rPr lang="en-US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AI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융합교육학과 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과목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AI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기술융합프로젝트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지도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차가을 교수님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발표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박수연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/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박희용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2"/>
          <p:cNvCxnSpPr/>
          <p:nvPr/>
        </p:nvCxnSpPr>
        <p:spPr>
          <a:xfrm>
            <a:off x="660400" y="0"/>
            <a:ext cx="0" cy="51898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" name="Google Shape;86;p12"/>
          <p:cNvCxnSpPr/>
          <p:nvPr/>
        </p:nvCxnSpPr>
        <p:spPr>
          <a:xfrm>
            <a:off x="1008184" y="2080845"/>
            <a:ext cx="808892" cy="0"/>
          </a:xfrm>
          <a:prstGeom prst="straightConnector1">
            <a:avLst/>
          </a:prstGeom>
          <a:noFill/>
          <a:ln w="6985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7" name="Google Shape;87;p12"/>
          <p:cNvCxnSpPr/>
          <p:nvPr/>
        </p:nvCxnSpPr>
        <p:spPr>
          <a:xfrm>
            <a:off x="2121877" y="2080845"/>
            <a:ext cx="2321169" cy="0"/>
          </a:xfrm>
          <a:prstGeom prst="straightConnector1">
            <a:avLst/>
          </a:prstGeom>
          <a:noFill/>
          <a:ln w="6985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9" name="Google Shape;89;p12"/>
          <p:cNvSpPr/>
          <p:nvPr/>
        </p:nvSpPr>
        <p:spPr>
          <a:xfrm rot="-1345248">
            <a:off x="2164989" y="5925063"/>
            <a:ext cx="293483" cy="293483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 rot="-488464">
            <a:off x="9858154" y="1608519"/>
            <a:ext cx="465306" cy="465306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7215647" y="3218285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추진 배경과 목적 · 시스템 구성 · 개발 방식과 역할 분담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3332879" y="3329174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01  ·  프로젝트 개요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10593132" y="3251987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7215647" y="3894159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전체 구조도 · 데이터 저장 3원화 · 핵심 워크플로 · 보안 구조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3332879" y="4005048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02  ·  시스템 아키텍처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10593132" y="3927861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7215647" y="4570033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수강생 뷰어 · 강사 대시보드 · 실시간 설문 · AI 기능 4종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3332879" y="4680922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03  ·  주요 기능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10593132" y="4603735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>
            <a:off x="7215647" y="5245907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FastAPI · LangChain · LangGraph · GPT-4o — 호출 구조와 체인 설계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3332879" y="5356796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04  ·  AI 기능 상세 · 기술 스택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0593132" y="5279609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0" y="5017754"/>
            <a:ext cx="1930055" cy="1840246"/>
          </a:xfrm>
          <a:custGeom>
            <a:avLst/>
            <a:gdLst/>
            <a:ahLst/>
            <a:cxnLst/>
            <a:rect l="l" t="t" r="r" b="b"/>
            <a:pathLst>
              <a:path w="1930054" h="1840246" extrusionOk="0">
                <a:moveTo>
                  <a:pt x="15951" y="0"/>
                </a:moveTo>
                <a:lnTo>
                  <a:pt x="1755845" y="307691"/>
                </a:lnTo>
                <a:cubicBezTo>
                  <a:pt x="1870544" y="327975"/>
                  <a:pt x="1947082" y="437399"/>
                  <a:pt x="1926798" y="552098"/>
                </a:cubicBezTo>
                <a:lnTo>
                  <a:pt x="1698996" y="1840246"/>
                </a:lnTo>
                <a:lnTo>
                  <a:pt x="0" y="1840246"/>
                </a:lnTo>
                <a:lnTo>
                  <a:pt x="0" y="3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10528106" y="0"/>
            <a:ext cx="1663894" cy="1851832"/>
          </a:xfrm>
          <a:custGeom>
            <a:avLst/>
            <a:gdLst/>
            <a:ahLst/>
            <a:cxnLst/>
            <a:rect l="l" t="t" r="r" b="b"/>
            <a:pathLst>
              <a:path w="1663893" h="1851831" extrusionOk="0">
                <a:moveTo>
                  <a:pt x="0" y="0"/>
                </a:moveTo>
                <a:lnTo>
                  <a:pt x="1663894" y="0"/>
                </a:lnTo>
                <a:lnTo>
                  <a:pt x="1663894" y="1664944"/>
                </a:lnTo>
                <a:lnTo>
                  <a:pt x="504167" y="1849228"/>
                </a:lnTo>
                <a:cubicBezTo>
                  <a:pt x="390871" y="1867231"/>
                  <a:pt x="284433" y="1789981"/>
                  <a:pt x="266430" y="16766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980135" y="1279524"/>
            <a:ext cx="10515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CONTENTS</a:t>
            </a:r>
            <a:br>
              <a:rPr lang="en-US"/>
            </a:br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Google Shape;101;p12"/>
          <p:cNvSpPr/>
          <p:nvPr/>
        </p:nvSpPr>
        <p:spPr>
          <a:xfrm>
            <a:off x="3332879" y="6032670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05  ·  설계 검증 · 비교 사례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3" name="Google Shape;100;p12"/>
          <p:cNvSpPr txBox="1"/>
          <p:nvPr/>
        </p:nvSpPr>
        <p:spPr>
          <a:xfrm>
            <a:off x="7215647" y="5921781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반복된 실패가 설계를 바꾼 과정 — AS-IS / TO-BE 비교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4" name="Google Shape;102;p12"/>
          <p:cNvSpPr/>
          <p:nvPr/>
        </p:nvSpPr>
        <p:spPr>
          <a:xfrm>
            <a:off x="10593132" y="5955483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프로젝트 개요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01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추진 배경과 목적  ·  시스템 구성  ·  개발 방식과 역할 분담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프로젝트 배경 및 목적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기존 LMS와 별도로, 교육 콘텐츠의 안전한 공유와 생성형 AI 활용을 하나로 묶는 통합 플랫폼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4048" y="153597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추진 배경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1985441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FF5FB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다양한 교육 운영 업무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AX·DX 교육과 일본 IT 해외취업 과정을 운영하며 교육관리 · 취업지원 · 교육 콘텐츠 관리 · 홍보마케팅 제작 등 다양한 업무를 수행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852582"/>
            <a:ext cx="5394960" cy="2084294"/>
          </a:xfrm>
          <a:prstGeom prst="roundRect">
            <a:avLst>
              <a:gd name="adj" fmla="val 5000"/>
            </a:avLst>
          </a:prstGeom>
          <a:solidFill>
            <a:srgbClr val="EFF5FB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통합 플랫폼의 필요성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교육 콘텐츠를 안전하게 공유하고, 생성형 AI로 다양한 형태의 교육 자료를 </a:t>
            </a:r>
            <a:r>
              <a:rPr lang="ko-KR" altLang="en-US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관리할</a:t>
            </a: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수 있는 별도 플랫폼 구축 요구</a:t>
            </a:r>
            <a:r>
              <a:rPr lang="en-US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br>
              <a:rPr lang="en-US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</a:br>
            <a:r>
              <a:rPr lang="ko-KR" altLang="en-US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향후 취업자료 기반의 분석도구로 확장</a:t>
            </a:r>
            <a:r>
              <a:rPr lang="en-US" altLang="ko-KR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8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6521823" y="1555819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프로젝트 목적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412993" y="1985441"/>
            <a:ext cx="5327725" cy="24722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82296" rtlCol="0" anchor="t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콘텐츠 공유</a:t>
            </a:r>
          </a:p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 교안(PPT)을 웹 기반으로 변환</a:t>
            </a:r>
            <a:r>
              <a:rPr lang="en-US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수강생은 편집·다운로드 없이 목차와 함께 열람</a:t>
            </a:r>
            <a:r>
              <a:rPr lang="en-US"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lang="ko-KR" altLang="en-US" sz="18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강사는 웹상에서 슬라이드 쇼 형태로 자료를 공개하며 강의진행 중 실시간으로 질문 답변을 진행하고 기록</a:t>
            </a:r>
            <a:r>
              <a:rPr lang="en-US" altLang="ko-KR" sz="18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8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4" name="Oval 233"/>
          <p:cNvSpPr/>
          <p:nvPr/>
        </p:nvSpPr>
        <p:spPr>
          <a:xfrm>
            <a:off x="6220969" y="2133360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412994" y="4594181"/>
            <a:ext cx="5327725" cy="13425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82296" rtlCol="0" anchor="t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 기반 강의 지원</a:t>
            </a:r>
          </a:p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시험문제 생성 · 설문 의견 요약 · 가상 학생질문 · 강의자료 평가를 생성형 AI로 자동화</a:t>
            </a:r>
          </a:p>
        </p:txBody>
      </p:sp>
      <p:sp>
        <p:nvSpPr>
          <p:cNvPr id="236" name="Oval 235"/>
          <p:cNvSpPr/>
          <p:nvPr/>
        </p:nvSpPr>
        <p:spPr>
          <a:xfrm>
            <a:off x="6220969" y="4722133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시스템 구성 및 개발 방식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별도 서버·DB를 새로 구축하지 않고 Google Workspace 자원을 최대한 활용한 경량 구성</a:t>
            </a:r>
            <a:r>
              <a:rPr lang="en-US"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/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GAS 프로젝트 4개 + AI 전용 서버 1개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GAS 라이브러리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변환·웹게시·목차 추출·DB 기록을 담당하는 공용 "엔진" — 3개 시스템이 공유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321871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system-a-viewer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웹앱 · 전체 공개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 뷰어 — 로그인 불필요, 키워드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구분하여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접속, 목차+슬라이드 열람 · 설문 응답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259694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웹앱 · 조직 내부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 대시보드 — 배포/수정/삭제, 실시간 설문 출제, AI 기능 4종 호출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9197518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l">
              <a:spcAft>
                <a:spcPts val="500"/>
              </a:spcAft>
            </a:pPr>
            <a:r>
              <a:rPr lang="en-US" sz="16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Google </a:t>
            </a:r>
            <a:r>
              <a:rPr sz="16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Cloud Run · Python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전용 백엔드 — FastAPI 엔드포인트 4개, LangChain/LangGraph로 GPT-4o 호출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84048" y="3584448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개발 방식 · 환경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384048" y="393192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서버리스 구성   </a:t>
            </a:r>
            <a:r>
              <a:rPr lang="en-US" sz="1600">
                <a:solidFill>
                  <a:srgbClr val="333333"/>
                </a:solidFill>
                <a:latin typeface="맑은 고딕"/>
                <a:ea typeface="맑은 고딕"/>
              </a:rPr>
              <a:t>Google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Workspace(Drive·Slides·Sheets) 자원 활용, 배포·접근제어는 구글 계정 체계에 위임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384048" y="45720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로컬 개발  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clasp(로컬↔Apps Script 동기화) + Claude Code 기반 개발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384048" y="521208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형상 관리  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5개 서브프로젝트(GAS 4 + ai-server)를 한 저장소로 관리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384048" y="585216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자동 배포   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로컬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프로젝트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GitHub Push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Google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Cloud Run</a:t>
            </a:r>
            <a:r>
              <a:rPr 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 자동 빌드</a:t>
            </a:r>
            <a:r>
              <a:rPr lang="en-US" altLang="ko-KR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하는 원클릭 배포 환경 구현</a:t>
            </a:r>
            <a:endParaRPr sz="16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6263640" y="3584448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개발 업무 분배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6263640" y="3931920"/>
            <a:ext cx="271576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9728" rIns="82296" rtlCol="0" anchor="t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박수연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기술개발 · 시스템 통합 총괄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아키텍처</a:t>
            </a:r>
            <a:r>
              <a:rPr 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·데이터 연계 설계, 공통 모듈·게시엔진 개발, 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대시보드 개발</a:t>
            </a:r>
            <a:r>
              <a:rPr lang="en-US" altLang="ko-KR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 관리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9116567" y="3931920"/>
            <a:ext cx="271576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9728" rIns="82296" rtlCol="0" anchor="t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박희용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요구사항 분석 · 서비스 기획</a:t>
            </a:r>
            <a:r>
              <a:rPr lang="en-US" sz="16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6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데이터 설계</a:t>
            </a:r>
            <a:endParaRPr sz="1600" b="1" i="0">
              <a:solidFill>
                <a:srgbClr val="3786B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사용자별 요구사항 정의·기능 우선순위, 운영 시나리오 설계, </a:t>
            </a:r>
            <a:r>
              <a:rPr lang="ko-KR" altLang="en-US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데이터구조 설계</a:t>
            </a:r>
            <a:r>
              <a:rPr lang="en-US" altLang="ko-KR"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화면 구성·, 사용자 테스트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시스템 아키텍처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02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전체 구조도  ·  데이터 저장 3원화  ·  배포/설문 워크플로  ·  보안 구조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전체 시스템 아키텍처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GAS 웹앱 2종 + 공용 라이브러리 + Cloud Run AI 서버 + 저장소 3종 — 전 구간 HTTPS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82880" y="1801368"/>
            <a:ext cx="10972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조직 계정 로그인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82880" y="2898648"/>
            <a:ext cx="10972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불필요·익명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714500" y="1463040"/>
            <a:ext cx="3899916" cy="4434840"/>
          </a:xfrm>
          <a:prstGeom prst="roundRect">
            <a:avLst>
              <a:gd name="adj" fmla="val 3000"/>
            </a:avLst>
          </a:prstGeom>
          <a:solidFill>
            <a:srgbClr val="F3F8FC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988820" y="1609345"/>
            <a:ext cx="336094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Google Apps Script (Workspace)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920240" y="2057401"/>
            <a:ext cx="3291837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 대시보드 · 조직 내부(DOMAIN) · 배포/설문 출제/AI 호출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920240" y="3154681"/>
            <a:ext cx="32918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system-a-viewer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수강생 뷰어 · 익명 전체 공개 · ?k=키워드 접속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920240" y="4389121"/>
            <a:ext cx="3291837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  (라이브러리)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게시·목차 추출·DB 기록 공용 엔진 — 웹앱이 라이브러리로 호출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3526220" y="3904489"/>
            <a:ext cx="0" cy="484632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>
            <a:cxnSpLocks/>
          </p:cNvCxnSpPr>
          <p:nvPr/>
        </p:nvCxnSpPr>
        <p:spPr>
          <a:xfrm>
            <a:off x="1280160" y="2152729"/>
            <a:ext cx="40675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>
            <a:cxnSpLocks/>
          </p:cNvCxnSpPr>
          <p:nvPr/>
        </p:nvCxnSpPr>
        <p:spPr>
          <a:xfrm>
            <a:off x="1280160" y="3250009"/>
            <a:ext cx="412006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6395707" y="1442567"/>
            <a:ext cx="2514600" cy="2606040"/>
          </a:xfrm>
          <a:prstGeom prst="roundRect">
            <a:avLst>
              <a:gd name="adj" fmla="val 4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100"/>
              </a:spcAft>
            </a:pPr>
            <a:r>
              <a:rPr lang="en-US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AI Server</a:t>
            </a:r>
            <a:endParaRPr b="1" i="0">
              <a:solidFill>
                <a:srgbClr val="E9713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· Python · FastAPI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/exam-questions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/opinion-summary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/virtual-questions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/lecture-evaluation</a:t>
            </a:r>
          </a:p>
          <a:p>
            <a:pPr algn="l"/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LangChain · LangGraph 체인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327648" y="5550815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82296" rtlCol="0" anchor="ctr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OpenAI API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GPT-4o · Responses API 웹검색
(web_search_preview)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9555480" y="1371600"/>
            <a:ext cx="2331720" cy="4526280"/>
          </a:xfrm>
          <a:prstGeom prst="roundRect">
            <a:avLst>
              <a:gd name="adj" fmla="val 3000"/>
            </a:avLst>
          </a:prstGeom>
          <a:solidFill>
            <a:srgbClr val="F2F9F5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9692640" y="146304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데이터 저장소 (3원화)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692640" y="2202206"/>
            <a:ext cx="2057400" cy="8134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Google Sheets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강의목록 — 강의 메타데이터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9692640" y="3232798"/>
            <a:ext cx="20574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Google Drive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원본 슬라이드 · 목차 JSON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9692640" y="4318648"/>
            <a:ext cx="2057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 (PostgreSQL)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실시간 설문 라이브/영구 ·
슬라이드 본문 · 가상질문 ·
강의자료 평가  (RLS + RPC)</a:t>
            </a:r>
          </a:p>
        </p:txBody>
      </p:sp>
      <p:cxnSp>
        <p:nvCxnSpPr>
          <p:cNvPr id="251" name="Connector 250"/>
          <p:cNvCxnSpPr>
            <a:cxnSpLocks/>
          </p:cNvCxnSpPr>
          <p:nvPr/>
        </p:nvCxnSpPr>
        <p:spPr>
          <a:xfrm>
            <a:off x="5202936" y="2320895"/>
            <a:ext cx="1192771" cy="0"/>
          </a:xfrm>
          <a:prstGeom prst="line">
            <a:avLst/>
          </a:prstGeom>
          <a:ln w="2222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ounded Rectangle 251"/>
          <p:cNvSpPr/>
          <p:nvPr/>
        </p:nvSpPr>
        <p:spPr>
          <a:xfrm>
            <a:off x="5343618" y="1733348"/>
            <a:ext cx="97136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HTTPS
X-API-Key</a:t>
            </a:r>
          </a:p>
        </p:txBody>
      </p:sp>
      <p:cxnSp>
        <p:nvCxnSpPr>
          <p:cNvPr id="253" name="Connector 252"/>
          <p:cNvCxnSpPr>
            <a:cxnSpLocks/>
          </p:cNvCxnSpPr>
          <p:nvPr/>
        </p:nvCxnSpPr>
        <p:spPr>
          <a:xfrm flipV="1">
            <a:off x="5212077" y="4890548"/>
            <a:ext cx="4457702" cy="45320"/>
          </a:xfrm>
          <a:prstGeom prst="line">
            <a:avLst/>
          </a:prstGeom>
          <a:ln w="22225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>
            <a:cxnSpLocks/>
            <a:stCxn id="244" idx="3"/>
          </p:cNvCxnSpPr>
          <p:nvPr/>
        </p:nvCxnSpPr>
        <p:spPr>
          <a:xfrm>
            <a:off x="8910307" y="2745587"/>
            <a:ext cx="822272" cy="1573061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>
            <a:cxnSpLocks/>
          </p:cNvCxnSpPr>
          <p:nvPr/>
        </p:nvCxnSpPr>
        <p:spPr>
          <a:xfrm>
            <a:off x="7326548" y="4048607"/>
            <a:ext cx="0" cy="1487196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/>
          <p:cNvSpPr/>
          <p:nvPr/>
        </p:nvSpPr>
        <p:spPr>
          <a:xfrm>
            <a:off x="6938088" y="506211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GPT-4o 호출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A6830133-13D4-C47F-9569-029CC1285DD5}"/>
              </a:ext>
            </a:extLst>
          </p:cNvPr>
          <p:cNvCxnSpPr>
            <a:cxnSpLocks/>
            <a:stCxn id="234" idx="3"/>
            <a:endCxn id="236" idx="3"/>
          </p:cNvCxnSpPr>
          <p:nvPr/>
        </p:nvCxnSpPr>
        <p:spPr>
          <a:xfrm>
            <a:off x="5212077" y="2432305"/>
            <a:ext cx="12700" cy="23317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Rounded Rectangle 253"/>
          <p:cNvSpPr/>
          <p:nvPr/>
        </p:nvSpPr>
        <p:spPr>
          <a:xfrm>
            <a:off x="5751575" y="4383939"/>
            <a:ext cx="2889501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Drive · Sheets · Supabase 기록/조회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데이터 저장 구조 — 3원화 전략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데이터의 성격에 따라 저장소를 분리 —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관리 편의</a:t>
            </a: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성(Sheets) · 응답 속도(Drive JSON) · 트랜잭션(Supabase)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81173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Sheets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강의목록 시트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525425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18872" rtlCol="0" anchor="t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강의자료의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메타</a:t>
            </a: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— 키워드(고유 키) ·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제목 · 슬라이드ID · 게시URL · 목차JSON 링크 · 최종수정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시간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 기준 행 단위 upsert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강사가 직접 열어볼 수 있는 투명한 저장소 — 별도 DB 없이 메타 관리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251960" y="1581173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Drive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목차데이터 폴더 · 키워드.json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4251960" y="2525425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18872" rtlCol="0" anchor="t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목차(TOC) 스냅샷 — 뷰어가 읽는 유일한 데이터 소스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 교체 시 덮어쓰기(스냅샷) — 뷰어 URL은 영구 고정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파일 1개 읽기로 뷰어 렌더링 완결 — 단순하고 빠른 데이터 통로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8119872" y="1581173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Supabase (PostgreSQL)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PostgREST REST API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8119872" y="2525425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18872" rtlCol="0" anchor="t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실시간 설문(라이브+영구) · 슬라이드 본문 · 가상질문 페르소나/결과 · 강의자료 평가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기능의 근거 데이터이자 결과 캐시 — RPC 2종으로 경쟁상태 원자화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GAS·Python 양쪽에서 REST로 동일 접근 · RLS 내장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핵심 워크플로 ① — 강의 배포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강사의 [배포] 클릭 한 번으로 웹게시 준비가 완료 — publishLecture() 내부 7단계 자동 처리</a:t>
            </a:r>
          </a:p>
        </p:txBody>
      </p:sp>
      <p:sp>
        <p:nvSpPr>
          <p:cNvPr id="229" name="Chevron 228"/>
          <p:cNvSpPr/>
          <p:nvPr/>
        </p:nvSpPr>
        <p:spPr>
          <a:xfrm>
            <a:off x="384048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1. 강사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PPT를 공유 드라이브에 업로드 →
"Google Slides로 저장"</a:t>
            </a:r>
          </a:p>
        </p:txBody>
      </p:sp>
      <p:sp>
        <p:nvSpPr>
          <p:cNvPr id="230" name="Chevron 229"/>
          <p:cNvSpPr/>
          <p:nvPr/>
        </p:nvSpPr>
        <p:spPr>
          <a:xfrm>
            <a:off x="3255264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2. 대시보드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키워드·제목·슬라이드 URL 입력
→ [배포] 클릭</a:t>
            </a:r>
          </a:p>
        </p:txBody>
      </p:sp>
      <p:sp>
        <p:nvSpPr>
          <p:cNvPr id="231" name="Chevron 230"/>
          <p:cNvSpPr/>
          <p:nvPr/>
        </p:nvSpPr>
        <p:spPr>
          <a:xfrm>
            <a:off x="6126480" y="1463040"/>
            <a:ext cx="2743200" cy="1051560"/>
          </a:xfrm>
          <a:prstGeom prst="chevron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publish-engine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publishLecture() 자동 처리
(아래 7단계)</a:t>
            </a:r>
          </a:p>
        </p:txBody>
      </p:sp>
      <p:sp>
        <p:nvSpPr>
          <p:cNvPr id="232" name="Chevron 231"/>
          <p:cNvSpPr/>
          <p:nvPr/>
        </p:nvSpPr>
        <p:spPr>
          <a:xfrm>
            <a:off x="8997696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4. 공유·열람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URL(?k=키워드) 공유 →
수강생 로그인 없이 열람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2743200"/>
            <a:ext cx="11411712" cy="196596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270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566928" y="2852928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publishLecture() 내부 처리 순서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669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ID 추출
(URL 정규식)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20116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21671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mimeType 검증
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구글슬라이드 포맷인가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2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38" name="Connector 237"/>
          <p:cNvCxnSpPr/>
          <p:nvPr/>
        </p:nvCxnSpPr>
        <p:spPr>
          <a:xfrm>
            <a:off x="36118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37673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공유범위 변경
"링크 보기"
(DriveApp)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2120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/>
          <p:cNvSpPr/>
          <p:nvPr/>
        </p:nvSpPr>
        <p:spPr>
          <a:xfrm>
            <a:off x="53675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
제목</a:t>
            </a:r>
            <a:r>
              <a:rPr 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또는 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첫 텍스트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 목차 추출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
(SlidesApp)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68122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ounded Rectangle 242"/>
          <p:cNvSpPr/>
          <p:nvPr/>
        </p:nvSpPr>
        <p:spPr>
          <a:xfrm>
            <a:off x="69677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  <a:p>
            <a:pPr algn="l">
              <a:lnSpc>
                <a:spcPct val="105000"/>
              </a:lnSpc>
            </a:pP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추출된 목차를 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JSON 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포맷으로 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D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rive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저장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84124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ounded Rectangle 244"/>
          <p:cNvSpPr/>
          <p:nvPr/>
        </p:nvSpPr>
        <p:spPr>
          <a:xfrm>
            <a:off x="85679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강의목록 시트
키워드 기준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으로 </a:t>
            </a:r>
            <a:r>
              <a:rPr lang="en-US" altLang="ko-KR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insert</a:t>
            </a:r>
            <a:endParaRPr sz="12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46" name="Connector 245"/>
          <p:cNvCxnSpPr/>
          <p:nvPr/>
        </p:nvCxnSpPr>
        <p:spPr>
          <a:xfrm>
            <a:off x="100126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ounded Rectangle 246"/>
          <p:cNvSpPr/>
          <p:nvPr/>
        </p:nvSpPr>
        <p:spPr>
          <a:xfrm>
            <a:off x="101681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7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
Supabase 저장
(AI 근거 데이터)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84048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URL 영구 고정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키워드 재배포 시 뷰어 URL은 그대로, 내용만 갱신 — 학생에게 다시 공유할 필요 없음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4251960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경량 수정 경로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재추출 없이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강의정보만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갱신하는 별도 경로 제공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8119872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배포 취소</a:t>
            </a:r>
          </a:p>
          <a:p>
            <a:pPr algn="l">
              <a:lnSpc>
                <a:spcPct val="115000"/>
              </a:lnSpc>
            </a:pP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 취소시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슬라이드를 다른 키워드가 참조 중이면 공유 설정은 유지, 관련 데이터만 정리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핵심 워크플로 ② — 실시간 설문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서로 다른 GAS 배포(대시보드 ↔ 뷰어)가 Supabase를 공유 상태 저장소로 사용해 실시간 통신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08760"/>
            <a:ext cx="321049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강사 — 대시보드 (system-b)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① 문제 출제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유형(객관식/단답형/의견형)·질문·선택지·정답 입력 → [학생들에게 공개]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고유키 안내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영소문자+숫자 4자리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 생성하여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화면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표시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③ [설문종료] → 집계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객관식/단답형: GAS 직접 채점 · 정답률·분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포 시각화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
의견형: </a:t>
            </a: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서버로 보내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요약</a:t>
            </a:r>
            <a:endParaRPr sz="12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④ 저장 여부 선택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[설문결과 저장] 또는 [저장하지 않고 종료]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489495" y="1508760"/>
            <a:ext cx="3306326" cy="320040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>
              <a:spcAft>
                <a:spcPts val="6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Supabase — 공유 상태 저장소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survey_temp_questions / answers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진행 중 라이브 데이터 (24시간 방치 설문 자동 정리)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RPC  submit_survey_answer()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문제가 active일 때만 원자적 INSERT — 종료 순간의 경쟁상태 방지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RPC  finalize_survey()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 이관 + 작업 테이블 정리를 한 트랜잭션으로 — "남은 행 = 미완료분" 불변식 보장</a:t>
            </a:r>
          </a:p>
          <a:p>
            <a:pPr algn="l"/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survey_results — 영구 저장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675870" y="1508760"/>
            <a:ext cx="321049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학생 — 뷰어 (system-a)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① [답변하기] 클릭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화면에서 고유키 입력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문제 표시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access_key + status=active 조건으로 Supabase에서 조회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③ 답변 제출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RPC 호출로 원자적 제출 — 강사가 그 순간 종료해도 안전</a:t>
            </a:r>
          </a:p>
        </p:txBody>
      </p:sp>
      <p:cxnSp>
        <p:nvCxnSpPr>
          <p:cNvPr id="232" name="Connector 231"/>
          <p:cNvCxnSpPr>
            <a:cxnSpLocks/>
          </p:cNvCxnSpPr>
          <p:nvPr/>
        </p:nvCxnSpPr>
        <p:spPr>
          <a:xfrm>
            <a:off x="3594538" y="2148840"/>
            <a:ext cx="931742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3465576" y="1874519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출제 등록</a:t>
            </a:r>
          </a:p>
        </p:txBody>
      </p:sp>
      <p:cxnSp>
        <p:nvCxnSpPr>
          <p:cNvPr id="234" name="Connector 233"/>
          <p:cNvCxnSpPr>
            <a:cxnSpLocks/>
          </p:cNvCxnSpPr>
          <p:nvPr/>
        </p:nvCxnSpPr>
        <p:spPr>
          <a:xfrm flipH="1">
            <a:off x="3594538" y="4160520"/>
            <a:ext cx="894957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3465576" y="4224528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집계·결과</a:t>
            </a:r>
          </a:p>
        </p:txBody>
      </p:sp>
      <p:cxnSp>
        <p:nvCxnSpPr>
          <p:cNvPr id="236" name="Connector 235"/>
          <p:cNvCxnSpPr>
            <a:cxnSpLocks/>
          </p:cNvCxnSpPr>
          <p:nvPr/>
        </p:nvCxnSpPr>
        <p:spPr>
          <a:xfrm flipH="1">
            <a:off x="7795821" y="2148840"/>
            <a:ext cx="894957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7726679" y="1874519"/>
            <a:ext cx="1005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설문 조회</a:t>
            </a:r>
          </a:p>
        </p:txBody>
      </p:sp>
      <p:cxnSp>
        <p:nvCxnSpPr>
          <p:cNvPr id="238" name="Connector 237"/>
          <p:cNvCxnSpPr>
            <a:cxnSpLocks/>
          </p:cNvCxnSpPr>
          <p:nvPr/>
        </p:nvCxnSpPr>
        <p:spPr>
          <a:xfrm flipH="1">
            <a:off x="7795821" y="4160520"/>
            <a:ext cx="880049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7726679" y="4224528"/>
            <a:ext cx="1005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답변 제출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4048" y="5029200"/>
            <a:ext cx="557784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문제 — 배포 간 상태 공유 불가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대시보드와 뷰어는 서로 다른 GAS 배포라 CacheService를 공유할 수 없음 → 진행 중 설문 상태를 주고받을 방법이 필요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236208" y="5029200"/>
            <a:ext cx="557784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해결 — DB를 통한 간접 통신 + RPC 원자화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라이브 상태를 Supabase 작업 테이블에 저장해 두 웹앱이 간접 통신, "조회 후 쓰기" 경쟁상태는 RPC 트랜잭션으로 원자화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lang="en-US" altLang="ko-KR" sz="11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RPC(Remote Procedure Call, </a:t>
            </a:r>
            <a:r>
              <a:rPr lang="ko-KR" altLang="en-US" sz="11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원격 프로시저 호출</a:t>
            </a:r>
            <a:r>
              <a:rPr lang="en-US" altLang="ko-KR" sz="11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보안 · 인증 구조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간 인증 방식을 분리 — 모델 제공자 키는 ai-server에만 보관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강사: 조직 로그인
수강생: 익명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788920" y="1481328"/>
            <a:ext cx="15544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GAS 웹앱 (A·B)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HtmlService 화면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909848" y="1495044"/>
            <a:ext cx="17373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라이브러리 (같은 실행 컨텍스트)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9262872" y="1458435"/>
            <a:ext cx="17373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Workspace 저장소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Drive · Sheets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1984248" y="1920240"/>
            <a:ext cx="80467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828800" y="2011680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</p:txBody>
      </p:sp>
      <p:cxnSp>
        <p:nvCxnSpPr>
          <p:cNvPr id="235" name="Connector 234"/>
          <p:cNvCxnSpPr>
            <a:cxnSpLocks/>
            <a:endCxn id="231" idx="1"/>
          </p:cNvCxnSpPr>
          <p:nvPr/>
        </p:nvCxnSpPr>
        <p:spPr>
          <a:xfrm>
            <a:off x="4343400" y="1920240"/>
            <a:ext cx="1566448" cy="9144"/>
          </a:xfrm>
          <a:prstGeom prst="line">
            <a:avLst/>
          </a:prstGeom>
          <a:ln w="1905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4340240" y="2040558"/>
            <a:ext cx="15544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라이브러리 호출
(API 키 없음·호출자 권한)</a:t>
            </a:r>
          </a:p>
        </p:txBody>
      </p:sp>
      <p:cxnSp>
        <p:nvCxnSpPr>
          <p:cNvPr id="237" name="Connector 236"/>
          <p:cNvCxnSpPr>
            <a:cxnSpLocks/>
            <a:endCxn id="232" idx="1"/>
          </p:cNvCxnSpPr>
          <p:nvPr/>
        </p:nvCxnSpPr>
        <p:spPr>
          <a:xfrm flipV="1">
            <a:off x="7647208" y="1892775"/>
            <a:ext cx="1615664" cy="25549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7936992" y="1932836"/>
            <a:ext cx="11577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계정 권한으로
기록/조회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84048" y="3189653"/>
            <a:ext cx="22860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기능 호출 주체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4114800" y="3189653"/>
            <a:ext cx="2286000" cy="86868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· FastAPI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805672" y="2878757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테이블 RLS 적용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812396" y="3860661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OpenAI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GPT-4o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2670048" y="3619421"/>
            <a:ext cx="144475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2697480" y="3710861"/>
            <a:ext cx="14173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X-API-Key
(공유 비밀키 AI_SERVER_KEY)</a:t>
            </a:r>
          </a:p>
        </p:txBody>
      </p:sp>
      <p:cxnSp>
        <p:nvCxnSpPr>
          <p:cNvPr id="245" name="Connector 244"/>
          <p:cNvCxnSpPr>
            <a:cxnSpLocks/>
            <a:endCxn id="241" idx="1"/>
          </p:cNvCxnSpPr>
          <p:nvPr/>
        </p:nvCxnSpPr>
        <p:spPr>
          <a:xfrm flipV="1">
            <a:off x="6400800" y="3267377"/>
            <a:ext cx="2404872" cy="196596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6702552" y="307050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service_role 키</a:t>
            </a:r>
          </a:p>
        </p:txBody>
      </p:sp>
      <p:cxnSp>
        <p:nvCxnSpPr>
          <p:cNvPr id="247" name="Connector 246"/>
          <p:cNvCxnSpPr>
            <a:cxnSpLocks/>
            <a:endCxn id="242" idx="1"/>
          </p:cNvCxnSpPr>
          <p:nvPr/>
        </p:nvCxnSpPr>
        <p:spPr>
          <a:xfrm>
            <a:off x="6400800" y="3784013"/>
            <a:ext cx="2411596" cy="46526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6702552" y="4072049"/>
            <a:ext cx="1371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OPENAI_KEY
(서버 전용)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275664" y="5126832"/>
            <a:ext cx="3596281" cy="1062322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모델 키 집중 보관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OpenAI 키는 Cloud Run 환경변수에만 존재 — GAS 스크립트 속성에는 없음. 키 유출 면적 최소화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4281005" y="5126832"/>
            <a:ext cx="3596281" cy="1062322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설정 중앙화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ID·URL·키는 Config.js의 PropertiesService에 집중, 민감 키는 getSecret() 화이트리스트 검증 후에만 반환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8286346" y="5126832"/>
            <a:ext cx="3596281" cy="1062322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원본 파일 비노출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수강생에게는 웹게시 URL만 제공, 원본 링크 미노출 → 편집·다운로드 차단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주요 기능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03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수강생 뷰어  ·  강사 대시보드  ·  실시간 설문  ·  AI 기능 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① — 수강생 뷰어 (System A)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없이 링크 하나로 열람 — 편집·다운로드는 원천 차단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키워드 URL 접속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?k=키워드 링크만으로 접속 — 로그인·계정 불필요, 외부 수강생도 즉시 이용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목차 + 슬라이드 열람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좌측 목차 사이드바(검색 지원) + 우측 슬라이드 embed, 목차 클릭 시 해당 슬라이드로 이동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원본 보호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웹게시 화면만 노출하고 원본 파일 링크는 제공하지 않음 → 편집·다운로드 차단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실시간 설문 참여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[답변하기]에서 고유키 입력 → 진행 중 설문에 익명으로 응답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URL 영구 고정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키워드로 재배포하면 내용만 갱신 — 게시판에 공유한 링크가 계속 유효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endParaRPr sz="1000" b="0" i="0">
              <a:solidFill>
                <a:srgbClr val="8A8A8A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00F5FC-199F-04EE-E162-69BD616E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34" y="2012509"/>
            <a:ext cx="5336983" cy="37901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② — 강사 대시보드 (System B)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조직 내부 전용 — 배포부터 AI 기능까지 강의 운영의 단일 진입점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원클릭 배포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키워드·제목·슬라이드 URL 입력 후 [배포] → 변환·웹게시·목차 추출·DB 기록 자동 처리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강의 목록 관리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배포된 강의 목록 표 — 뷰어 URL 복사·뷰어 열기·수정·삭제, 제목만 경량 수정 지원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실시간 설문 출제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문제 출제 → 고유키 공개 → 종료 시 자동 채점·정답률·분포 집계 → 저장 여부 선택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 기능 4종 호출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시험문제 생성 · 의견 요약 · 가상질문 · 강의자료 평가 — AI_MODE 스크립트 속성으로 ON/OFF 제어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접근 제어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조직 내부(DOMAIN) 접근 · 접속자 본인 권한으로 실행, 도움말 페이지 내장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endParaRPr sz="1000" b="0" i="0">
              <a:solidFill>
                <a:srgbClr val="8A8A8A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27A46B-B021-E36D-9BE8-10A459999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43322"/>
            <a:ext cx="5304865" cy="13234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AF0C1D4-458C-6109-9818-800566D1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887" y="3174013"/>
            <a:ext cx="2042148" cy="26270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C6BC0E-8C05-009D-E7F7-26700DEBA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372" y="3174013"/>
            <a:ext cx="2164428" cy="28652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③ — 실시간 설문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수업 중 즉석 출제와 실시간 집계 — 의견형은 AI 요약까지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3가지 문제 유형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객관식 · 단답형 · 의견형 — 유형별 입력 폼과 집계 방식 자동 전환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고유키 참여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혼동 문자를 뺀 4자리 고유키(o·l·0·1 제외) — 학생은 키 입력만으로 참여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동시 제출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강사가 종료하는 순간의 제출도 유실·중복 없이 처리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자동 집계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종료 시 정답률·응답 분포 즉시 계산, 의견형은 GPT-4o 요약(실패 시 원문 그대로 표시)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저장 선택권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[설문결과 저장] 시 트랜잭션으로 영구 이관, [저장하지 않고 종료] 시 흔적 없이 정리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endParaRPr sz="1000" b="0" i="0">
              <a:solidFill>
                <a:srgbClr val="8A8A8A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748FC7-D6B7-CED2-3636-87D189DC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213" y="2150426"/>
            <a:ext cx="1379483" cy="11075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F326F8-3F3A-7786-C6DC-1596461C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263" y="3258206"/>
            <a:ext cx="2579288" cy="30145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197270-7532-B86A-7E27-02DC6B944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639" y="1527231"/>
            <a:ext cx="1952743" cy="29660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5BDD6FB-5E4E-B7A1-1708-1386FE635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813" y="3438144"/>
            <a:ext cx="2839075" cy="25292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ounded Rectangle 232"/>
          <p:cNvSpPr/>
          <p:nvPr/>
        </p:nvSpPr>
        <p:spPr>
          <a:xfrm>
            <a:off x="7726679" y="1691640"/>
            <a:ext cx="4087368" cy="429768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AI 기능 결과 화면 캡처</a:t>
            </a:r>
          </a:p>
          <a:p>
            <a:pPr algn="ctr"/>
            <a:r>
              <a:rPr sz="10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(이미지 추후 삽입 예정)</a:t>
            </a:r>
          </a:p>
        </p:txBody>
      </p:sp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④ — AI 기능 4종</a:t>
            </a: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1FD1F0-9EB6-CD5E-EEDB-FBAE64FA0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837" y="2141286"/>
            <a:ext cx="2161232" cy="1057866"/>
          </a:xfrm>
          <a:prstGeom prst="rect">
            <a:avLst/>
          </a:prstGeom>
        </p:spPr>
      </p:pic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전부 OpenAI GPT-4o 단일 제공자로 통일 — 전용 백엔드(ai-server)를 통해서만 호출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6916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시험문제 생성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 + 가상질문을 근거로 유형(객관식/단답형/서술형) × 난이도(초/중/고) 조합 문제 생성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강사의 평가시험 출제에 사용 목적</a:t>
            </a:r>
            <a:r>
              <a:rPr lang="en-US" altLang="ko-KR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0" name="Rounded Rectangle 229"/>
          <p:cNvSpPr/>
          <p:nvPr/>
        </p:nvSpPr>
        <p:spPr>
          <a:xfrm>
            <a:off x="3977639" y="16916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설문 의견 요약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수업 중 실시간으로 학생들에게 의견을 묻는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설문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을 할때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학생 답변을 요약</a:t>
            </a: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하여 수강생들의 현재 상태를 즉시 파악</a:t>
            </a:r>
            <a:r>
              <a:rPr lang="en-US" altLang="ko-KR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1" name="Rounded Rectangle 230"/>
          <p:cNvSpPr/>
          <p:nvPr/>
        </p:nvSpPr>
        <p:spPr>
          <a:xfrm>
            <a:off x="384048" y="3977639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가상질문 생성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수준별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페르소나가 슬라이드를 순서대로 읽으며 "막히는 지점"의 질문을 생성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977639" y="3977639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강의자료 평가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강의자료의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구조·구성 검토 +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수업중진행된 실시간 설문 결과 </a:t>
            </a:r>
            <a:r>
              <a:rPr lang="en-US" altLang="ko-KR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+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페르소나의 가상 질문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+ 웹검색 기반 최신성 검토를 산문형 리포트로 제공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강의자료의 개선에 도움이 되도록 한다</a:t>
            </a:r>
            <a:r>
              <a:rPr lang="en-US" altLang="ko-KR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6DC77D-52C3-DDBC-0543-FCE9E5D1B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359" y="1811138"/>
            <a:ext cx="2249317" cy="24315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F8F288D-AE6E-C337-2BD5-9440B6438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460" y="3199152"/>
            <a:ext cx="2303189" cy="27115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AI 기능 상세 · 기술 스택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04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FastAPI  ·  LangChain  ·  LangGraph  ·  OpenAI GPT-4o — 호출 구조와 체인 설계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AI 기술 스택 구성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호출 게이트부터 모델·데이터·배포까지 — 계층별 역할과 선택 이유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565586" y="1481328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호출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688602" y="1481328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GAS UrlFetchApp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system-b 대시보드에서만 호출 · X-API-Key 공유 비밀키 인증 · AI_MODE ON/OFF 게이트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65586" y="2171700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서버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688602" y="2171700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FastAPI + Uvicorn + Pydantic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컨테이너 ·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Uvicorn: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비동기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ASGI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서버로 앱 구동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/ Pydantic: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응답 데이터 검증 및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문서 자동화</a:t>
            </a:r>
            <a:endParaRPr b="0" i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3" name="Rounded Rectangle 232"/>
          <p:cNvSpPr/>
          <p:nvPr/>
        </p:nvSpPr>
        <p:spPr>
          <a:xfrm>
            <a:off x="565586" y="2862072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2688602" y="2862072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LangChain (langchain-openai)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ChatOpenAI 공용 프로바이더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65586" y="3552444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2688602" y="3552444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LangGraph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StateGraph 상태 유지형 순차 루프 — 가상질문 생성의 "구간 읽기 + 컨텍스트 누적 + 조건부 반복"을 명시적으로 표현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65586" y="4242816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모델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2688602" y="4242816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OpenAI GPT-4o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4개 기능 전부 단일 제공자로 통일 · Responses API 내장 웹검색(web_search_preview) 활용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65586" y="4933188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2688602" y="4933188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 PostgREST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슬라이드 본문·설문 결과·페르소나를 REST로 직접 조회, 결과는 캐시 테이블에 upsert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65586" y="5623559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2688602" y="5623559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Cloud Build → Artifact Registry → Cloud Run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GitHub main 브랜치 push만으로 빌드~배포 자동화 (cloudbuild.yaml, 모노레포 하위 디렉터리 빌드)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AI 기능 공통 호출 구조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19</a:t>
            </a:fld>
            <a:endParaRPr sz="1400"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4개 기능이 동일한 파이프라인을 공유 — 게이트 확인부터 결과 캐시까지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① 버튼 클릭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강사가 대시보드에서
AI 기능 실행</a:t>
            </a:r>
          </a:p>
        </p:txBody>
      </p:sp>
      <p:cxnSp>
        <p:nvCxnSpPr>
          <p:cNvPr id="230" name="Connector 229"/>
          <p:cNvCxnSpPr>
            <a:cxnSpLocks/>
          </p:cNvCxnSpPr>
          <p:nvPr/>
        </p:nvCxnSpPr>
        <p:spPr>
          <a:xfrm>
            <a:off x="2139696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2331720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② AI_MODE 게이트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checkAiEnabled_() 확인
OFF면 호출 없이 안내 모달</a:t>
            </a:r>
          </a:p>
        </p:txBody>
      </p:sp>
      <p:cxnSp>
        <p:nvCxnSpPr>
          <p:cNvPr id="232" name="Connector 231"/>
          <p:cNvCxnSpPr>
            <a:cxnSpLocks/>
          </p:cNvCxnSpPr>
          <p:nvPr/>
        </p:nvCxnSpPr>
        <p:spPr>
          <a:xfrm>
            <a:off x="4087368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4279392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HTTPS 호출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UrlFetchApp POST
X-API-Key 헤더 인증</a:t>
            </a:r>
          </a:p>
        </p:txBody>
      </p:sp>
      <p:cxnSp>
        <p:nvCxnSpPr>
          <p:cNvPr id="234" name="Connector 233"/>
          <p:cNvCxnSpPr>
            <a:cxnSpLocks/>
          </p:cNvCxnSpPr>
          <p:nvPr/>
        </p:nvCxnSpPr>
        <p:spPr>
          <a:xfrm>
            <a:off x="6035040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6227064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데이터 조회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verify_api_key() 후
Supabase에서 근거 조회</a:t>
            </a:r>
          </a:p>
        </p:txBody>
      </p:sp>
      <p:cxnSp>
        <p:nvCxnSpPr>
          <p:cNvPr id="236" name="Connector 235"/>
          <p:cNvCxnSpPr>
            <a:cxnSpLocks/>
          </p:cNvCxnSpPr>
          <p:nvPr/>
        </p:nvCxnSpPr>
        <p:spPr>
          <a:xfrm>
            <a:off x="7982712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8174736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체인 실행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chains/*.py LangChain
→ GPT-4o 호출</a:t>
            </a:r>
          </a:p>
        </p:txBody>
      </p:sp>
      <p:cxnSp>
        <p:nvCxnSpPr>
          <p:cNvPr id="238" name="Connector 237"/>
          <p:cNvCxnSpPr>
            <a:cxnSpLocks/>
          </p:cNvCxnSpPr>
          <p:nvPr/>
        </p:nvCxnSpPr>
        <p:spPr>
          <a:xfrm>
            <a:off x="9930384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10122408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반환·캐시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표시 + publish-engine
경유 Supabase 캐시 저장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66344" y="3211551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엔드포인트별 체인 구성</a:t>
            </a:r>
          </a:p>
        </p:txBody>
      </p:sp>
      <p:graphicFrame>
        <p:nvGraphicFramePr>
          <p:cNvPr id="241" name="Table 2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01671"/>
              </p:ext>
            </p:extLst>
          </p:nvPr>
        </p:nvGraphicFramePr>
        <p:xfrm>
          <a:off x="390772" y="3538727"/>
          <a:ext cx="11411712" cy="2558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571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엔드포인트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구조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정책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시험문제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/exam-questions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출력 단발 체인 — 유형×난이도별 프롬프트 + 가상질문 참고자료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없음 (매번 새로 생성)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 의견 요약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/opinion-summary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단발 체인 — grounding 규칙(숫자 금지·4단계 비율 기준) 프롬프트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없음 (설문 1회성)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가상질문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/virtual-questions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LangGraph StateGraph — read_batch 루프 + filter_questions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키워드+페르소나당 최신 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평가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/lecture-evaluation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출력 1회 + 웹검색 2단계(조사→재작성) 격리 호출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키워드당 최신 1건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LangGraph 기반 가상질문 생성 그래프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20</a:t>
            </a:fld>
            <a:endParaRPr sz="1400"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"구간별 읽기 → 컨텍스트 누적 → 조건부 반복 → 최종 필터링"을 StateGraph로 명시적으로 표현</a:t>
            </a:r>
          </a:p>
        </p:txBody>
      </p:sp>
      <p:sp>
        <p:nvSpPr>
          <p:cNvPr id="229" name="Oval 228"/>
          <p:cNvSpPr/>
          <p:nvPr/>
        </p:nvSpPr>
        <p:spPr>
          <a:xfrm>
            <a:off x="813551" y="2403798"/>
            <a:ext cx="826725" cy="603504"/>
          </a:xfrm>
          <a:prstGeom prst="ellipse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START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1640276" y="2705550"/>
            <a:ext cx="356616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1996892" y="2138621"/>
            <a:ext cx="2606040" cy="1532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read_batch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Part N 본문 + 누적 컨텍스트를 프롬프트에 담아 구조화 출력 호출 → {questions, batch_summary}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4602931" y="2705550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Diamond 232"/>
          <p:cNvSpPr/>
          <p:nvPr/>
        </p:nvSpPr>
        <p:spPr>
          <a:xfrm>
            <a:off x="5060132" y="2138621"/>
            <a:ext cx="1600200" cy="1133856"/>
          </a:xfrm>
          <a:prstGeom prst="diamond">
            <a:avLst/>
          </a:prstGeom>
          <a:solidFill>
            <a:srgbClr val="D9E8F5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rtlCol="0" anchor="ctr"/>
          <a:lstStyle/>
          <a:p>
            <a:pPr algn="ctr">
              <a:lnSpc>
                <a:spcPct val="100000"/>
              </a:lnSpc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남은 구간
있음?</a:t>
            </a:r>
          </a:p>
        </p:txBody>
      </p:sp>
      <p:cxnSp>
        <p:nvCxnSpPr>
          <p:cNvPr id="234" name="Connector 233"/>
          <p:cNvCxnSpPr/>
          <p:nvPr/>
        </p:nvCxnSpPr>
        <p:spPr>
          <a:xfrm flipV="1">
            <a:off x="5855660" y="1535118"/>
            <a:ext cx="0" cy="603503"/>
          </a:xfrm>
          <a:prstGeom prst="line">
            <a:avLst/>
          </a:prstGeom>
          <a:ln w="19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3295340" y="1535118"/>
            <a:ext cx="2560320" cy="0"/>
          </a:xfrm>
          <a:prstGeom prst="line">
            <a:avLst/>
          </a:prstGeom>
          <a:ln w="19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3295340" y="1535118"/>
            <a:ext cx="0" cy="603503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3642812" y="1589982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예 — batch_index+1 (다음 구간 반복)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6660332" y="2705550"/>
            <a:ext cx="5029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6381440" y="2831807"/>
            <a:ext cx="822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7181540" y="2115638"/>
            <a:ext cx="2542032" cy="1532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filter_questions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 구간에서 모인 질문을 한 번에 놓고 중복·유사 질문을 정리한 최종본 생성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9723572" y="2705549"/>
            <a:ext cx="4114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10135052" y="2371526"/>
            <a:ext cx="777240" cy="603504"/>
          </a:xfrm>
          <a:prstGeom prst="ellipse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END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384048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컨텍스트 누적 전략</a:t>
            </a:r>
          </a:p>
          <a:p>
            <a:pPr algn="l">
              <a:lnSpc>
                <a:spcPct val="12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50장 이하: 지나온 구간 원문을 그대로 누적
50장 초과: 원문 대신 구간 요약(batch_summary)만 누적 — 별도 요약 호출 없이 토큰 절약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251960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"질문 없음"도 정상 결과</a:t>
            </a:r>
          </a:p>
          <a:p>
            <a:pPr algn="l">
              <a:lnSpc>
                <a:spcPct val="12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의미 있는 내용이 없거나 이미 다룬 내용과 겹치면 억지로 생성하지 않음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119872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페르소나 = 데이터</a:t>
            </a:r>
          </a:p>
          <a:p>
            <a:pPr algn="l">
              <a:lnSpc>
                <a:spcPct val="12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4종 페르소나(초심자·비전공·전공이론파·실무경험자)를 virtual_question_personas 테이블로 관리 — 추가·수정에 코드 변경 불필요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강의자료 평가 — 4단계 파이프라인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평가와 부가 기능(웹검색)을 구조적으로 격리 — </a:t>
            </a:r>
            <a:r>
              <a:rPr 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 웹검색이 실패해도 </a:t>
            </a:r>
            <a:r>
              <a:rPr lang="en-US" altLang="ko-KR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 자료를 근거로 평가</a:t>
            </a:r>
            <a:endParaRPr b="0" i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① evidence_basis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LLM 아님 — 파이썬 코드가 조회 결과 개수를 직접 조립해 근거를 명시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035808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3282696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_generate_core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구조화 출력 1회 — structure_review(항상) · learner_signal_review(설문/가상질문 있을 때만) 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5934456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6181344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③ currency_review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완전 부가 기능 — 최상위 try/except로 감싸 어떤 오류든 None으로 수렴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833104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9079992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④ 결과 합성·저장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네 값을 합쳐 lecture_evaluations 테이블에 upsert (키워드당 최신 1건)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6665976" y="2852928"/>
            <a:ext cx="0" cy="347472"/>
          </a:xfrm>
          <a:prstGeom prst="line">
            <a:avLst/>
          </a:prstGeom>
          <a:ln w="1778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1463040" y="3200400"/>
            <a:ext cx="9326880" cy="160020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1645920" y="3291840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③ 내부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691640" y="3639312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(a) 검색 전용 호출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web_search_preview 도구 바인딩 · 언어/형식 지시 없음 · 25초 하드 타임아웃 · 429 시 3초 후 1회 재시도 · 특이사항 없으면 "NONE"→None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897880" y="4142232"/>
            <a:ext cx="274320" cy="0"/>
          </a:xfrm>
          <a:prstGeom prst="line">
            <a:avLst/>
          </a:prstGeom>
          <a:ln w="1778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/>
          <p:cNvSpPr/>
          <p:nvPr/>
        </p:nvSpPr>
        <p:spPr>
          <a:xfrm>
            <a:off x="6172200" y="3639312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(b) 재작성 전용 호출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도구 없는 순수 지시-따르기 호출 — 원시 조사 결과를 한국어 요약 의견으로 재작성 · 마크다운 링크는 정규식으로 한 번 더 제거(안전망)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384048" y="5074920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입력 데이터 (Supabase 조회)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본문(slide_contents) + 실시간 설문 결과(survey_results) + 페르소나별 가상질문(virtual_questions) — 학습자 신호까지 근거로 활용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5687568" y="5074920"/>
            <a:ext cx="6108192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실패 격리 설계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웹검색 쪽에서 아직 겪어보지 못한 새 오류가 나도 예외를 던지지 않고 항상 None으로 수렴 → 핵심 평가는 유지되고 해당 섹션만 조용히 생략 — 개별 패치 없이 자동 처리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설계 검증 · 비교 사례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05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반복된 실패가 설계를 바꾼 과정 — 개발 기록 기반 AS-IS / TO-BE 비교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① — 가상질문 생성: 4페르소나 동시 → 1명 온디맨드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23</a:t>
            </a:fld>
            <a:endParaRPr sz="1400"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요구사항에서 아키텍처까지 — 설계가 세 번 바뀐 과정과 그 이유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설계 1  ·  폐기</a:t>
            </a:r>
          </a:p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교사+학생 상호작용 시뮬레이션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 응답을 시뮬레이션하는 절반의 로직이 목적("어디서 막히는가" 파악)에 불필요한 복잡도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950208" y="2258568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4187952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설계 2  ·  한계</a:t>
            </a:r>
          </a:p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배치 × 4페르소나 동시 생성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최악 40회 호출(배치 10 × 페르소나 4) — Cloud Run 300초·GAS 6분 한도 위협 + 가장 느린 체인에 종속되는 병렬 조율 문제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754112" y="2258568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7991856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설계 3  ·  확정</a:t>
            </a:r>
          </a:p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학생 1명 단일 요청 온디맨드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선택 시마다 1개 체인만 실행 — Part 1~3 고정 3구간, 호출 4회, 약 16~20초(한도 대비 3배 여유)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809670"/>
              </p:ext>
            </p:extLst>
          </p:nvPr>
        </p:nvGraphicFramePr>
        <p:xfrm>
          <a:off x="384048" y="3291840"/>
          <a:ext cx="11411712" cy="220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AS-IS — 4페르소나 동시 생성</a:t>
                      </a:r>
                    </a:p>
                  </a:txBody>
                  <a:tcPr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— 1페르소나 온디맨드</a:t>
                      </a:r>
                    </a:p>
                  </a:txBody>
                  <a:tcPr>
                    <a:solidFill>
                      <a:srgbClr val="3786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 1회 → 4개 체인 동시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선택 시마다 1개 체인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횟수 (최악)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10개 × 페르소나 4명 = 40회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3회 + 필터링 1회 = 4회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분할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전체의 10% 동적 분할 (3~15장 clamp)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초/중/후반 3구간(Part 1/2/3)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 시간·위험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조율 필요 — 가장 느린 체인에 종속, 타임아웃 한도 위협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16~20초 (60초 한도 대비 3배 여유) + 캐시 시 즉시 반환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" name="Rounded Rectangle 234"/>
          <p:cNvSpPr/>
          <p:nvPr/>
        </p:nvSpPr>
        <p:spPr>
          <a:xfrm>
            <a:off x="384048" y="5715000"/>
            <a:ext cx="11411712" cy="713232"/>
          </a:xfrm>
          <a:prstGeom prst="roundRect">
            <a:avLst>
              <a:gd name="adj" fmla="val 8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/>
            <a:r>
              <a:rPr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관점의 전환   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 처리를 최적화하는 대신, 병렬이 필요 없도록 요청 단위 자체를 쪼갬  ·  페르소나 정의는 코드 → 테이블(FK)로 이동해 추가 시 코드 변경 불필요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② — 웹검색: 단일 호출 vs 2단계 분리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24</a:t>
            </a:fld>
            <a:endParaRPr sz="1400"/>
          </a:p>
        </p:txBody>
      </p:sp>
      <p:sp>
        <p:nvSpPr>
          <p:cNvPr id="229" name="Rounded Rectangle 228"/>
          <p:cNvSpPr/>
          <p:nvPr/>
        </p:nvSpPr>
        <p:spPr>
          <a:xfrm>
            <a:off x="384048" y="15316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0584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1단계 — 인프라 실패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TPM 한도 초과로 RateLimitError(429), 이어서 응답 파싱 AttributeError로 전체 요청 500 — 결과 자체가 없음</a:t>
            </a:r>
          </a:p>
          <a:p>
            <a:pPr algn="l">
              <a:lnSpc>
                <a:spcPct val="110000"/>
              </a:lnSpc>
            </a:pPr>
            <a:r>
              <a:rPr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원인: 원문 재전송(사례 ③) + content가 리스트로 오는 경우 미처리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950208" y="2560320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4187952" y="15316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0584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2단계 — 스타일 미준수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호출은 성공했지만 영어 응답 · 글머리 기호 나열 · 마크다운 링크 노출 — 스타일 지시가 지켜지지 않음</a:t>
            </a:r>
          </a:p>
          <a:p>
            <a:pPr algn="l">
              <a:lnSpc>
                <a:spcPct val="110000"/>
              </a:lnSpc>
            </a:pPr>
            <a:r>
              <a:rPr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"As of August 2, 2026, the latest stable release of PostgreSQL is version 18…"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754112" y="2560320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7991856" y="15316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0584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3단계 — 분리 후 성공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전용 + 재작성 전용으로 분리 — 한국어 요약 톤, 링크 없음, 강의 주제와 연결된 최신 정보, 실행시간도 단축</a:t>
            </a:r>
          </a:p>
          <a:p>
            <a:pPr algn="l">
              <a:lnSpc>
                <a:spcPct val="110000"/>
              </a:lnSpc>
            </a:pPr>
            <a:r>
              <a:rPr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"PostgreSQL의 최신 안정 버전은 18.4로…" (한국어 요약 의견)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384048" y="3977639"/>
            <a:ext cx="4846320" cy="160020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원인 분석 — 도구 바인딩이 형식 지시를 밀어냄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도구가 바인딩된 호출에서는 "찾은 내용을 보고하기"라는 도구 본연의 동작이 출력 형식·언어 지시보다 우선되는 경향이 실측으로 반복 확인됨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504688" y="3977639"/>
            <a:ext cx="6291072" cy="1600200"/>
          </a:xfrm>
          <a:prstGeom prst="roundRect">
            <a:avLst>
              <a:gd name="adj" fmla="val 6000"/>
            </a:avLst>
          </a:prstGeom>
          <a:solidFill>
            <a:srgbClr val="F3F8FC"/>
          </a:solidFill>
          <a:ln w="1270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87568" y="4087368"/>
            <a:ext cx="5852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해결 — 역할을 분리한 2단계 파이프라인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715000" y="4498848"/>
            <a:ext cx="26060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① 검색 전용 호출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도구 바인딩 · 형식 지시 없음
"있는 그대로" 조사만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8321040" y="4946904"/>
            <a:ext cx="274320" cy="0"/>
          </a:xfrm>
          <a:prstGeom prst="line">
            <a:avLst/>
          </a:prstGeom>
          <a:ln w="1651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8595360" y="4498848"/>
            <a:ext cx="26060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② 재작성 전용 호출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도구 없음 · 순수 지시 따르기
한국어 2~4문장 요약으로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4048" y="5897880"/>
            <a:ext cx="11411712" cy="548640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/>
            <a:r>
              <a:rPr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설계 원칙   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호출에 서로 다른 성격의 지시(도구 사용 vs 출력 형식)를 함께 부여하지 않는다 — "한 가지만 잘하면 되는" 호출로 나누면 지시 순응도가 크게 오른다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③ — 원본 재전송 vs 파생 요약 재사용 (토큰 실측)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강의자료 평가 1회 실행 안의 두 번째 LLM 호출(웹검색)에 무엇을 입력할 것인가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4048" y="146304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AS-IS — 슬라이드 전체 원문(143장)을 다시 전송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48640" y="1874519"/>
            <a:ext cx="2845125" cy="566928"/>
          </a:xfrm>
          <a:prstGeom prst="rect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평가  11,668 토큰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393765" y="1874519"/>
            <a:ext cx="4595164" cy="56692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웹검색(원문 재전송)  18,845 토큰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863840" y="1691640"/>
            <a:ext cx="0" cy="1097280"/>
          </a:xfrm>
          <a:prstGeom prst="line">
            <a:avLst/>
          </a:prstGeom>
          <a:ln w="22225">
            <a:solidFill>
              <a:srgbClr val="C03A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6949440" y="1481328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조직 TPM 한도 30,000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48640" y="2532887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합계 30,513 토큰 &gt; 30,000 TPM  → 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RateLimitError(429) — "1.026초 후 재시도" 안내와 함께 거부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84048" y="30632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TO-BE — 핵심 평가가 이미 만든 요약(structure_review)을 재사용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48640" y="3474720"/>
            <a:ext cx="2845125" cy="566928"/>
          </a:xfrm>
          <a:prstGeom prst="rect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평가  11,668 토큰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393765" y="3474720"/>
            <a:ext cx="320040" cy="566928"/>
          </a:xfrm>
          <a:prstGeom prst="rect">
            <a:avLst/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3805245" y="3584448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웹검색(파생 요약 재사용) — 수백 토큰 수준 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한도 내 · 429 미발생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7863840" y="3291840"/>
            <a:ext cx="0" cy="914400"/>
          </a:xfrm>
          <a:prstGeom prst="line">
            <a:avLst/>
          </a:prstGeom>
          <a:ln w="22225">
            <a:solidFill>
              <a:srgbClr val="C03A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ounded Rectangle 239"/>
          <p:cNvSpPr/>
          <p:nvPr/>
        </p:nvSpPr>
        <p:spPr>
          <a:xfrm>
            <a:off x="384048" y="4434840"/>
            <a:ext cx="367588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웹검색 입력 크기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전체 원문 (~143장, 11,000자+)</a:t>
            </a:r>
          </a:p>
          <a:p>
            <a:pPr algn="l">
              <a:lnSpc>
                <a:spcPct val="110000"/>
              </a:lnSpc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 검토 요약 1건 (수백 토큰)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4251960" y="4434840"/>
            <a:ext cx="367588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레이트리밋(429)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발생 — TPM 한도 초과</a:t>
            </a:r>
          </a:p>
          <a:p>
            <a:pPr algn="l">
              <a:lnSpc>
                <a:spcPct val="110000"/>
              </a:lnSpc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미발생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119872" y="4434840"/>
            <a:ext cx="367588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전체 실행시간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약 40초 (재시도 대기 포함)</a:t>
            </a:r>
          </a:p>
          <a:p>
            <a:pPr>
              <a:lnSpc>
                <a:spcPct val="110000"/>
              </a:lnSpc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</a:t>
            </a:r>
            <a:r>
              <a:rPr lang="ko-KR" altLang="en-US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lang="en-US" altLang="ko-KR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lang="ko-KR" altLang="en-US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lang="en-US" altLang="ko-KR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이전보다 단축 (실측)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84048" y="5870448"/>
            <a:ext cx="11411712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/>
            <a:r>
              <a:rPr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시사점   </a:t>
            </a:r>
            <a:r>
              <a:rPr lang="ko-KR" altLang="en-US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강의자료 원본을 평가하고</a:t>
            </a:r>
            <a:r>
              <a:rPr lang="en-US" altLang="ko-KR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최신정보를 웹에서 검색할때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이미 생성된 파생 </a:t>
            </a:r>
            <a:r>
              <a:rPr lang="ko-KR" altLang="en-US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데이터의 재사용이 토큰·지연·안정성 모두에서 유리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종합 인사이트 — 세 사례를 관통하는 설계 원칙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개발 과정의 반복된 실패와 실측이 도출한 공통 원칙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6002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파라미터 조정보다 아키텍처 조정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레이트리밋을 재시도로 완화하기보다 입력 데이터 크기 자체를 줄이는 것이, 병렬 호출을 최적화하기보다 요청 단위를 쪼개는 것이 더 근본적인 해결이었다.</a:t>
            </a:r>
          </a:p>
        </p:txBody>
      </p:sp>
      <p:sp>
        <p:nvSpPr>
          <p:cNvPr id="230" name="Oval 229"/>
          <p:cNvSpPr/>
          <p:nvPr/>
        </p:nvSpPr>
        <p:spPr>
          <a:xfrm>
            <a:off x="530352" y="18013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236208" y="16002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한 호출에 한 가지 책임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검색과 스타일 준수를 한 호출에 같이 시키면 지시 순응도가 떨어진다. 역할을 분리하면 각 호출이 단순해지고 결과 품질이 올라간다.</a:t>
            </a:r>
          </a:p>
        </p:txBody>
      </p:sp>
      <p:sp>
        <p:nvSpPr>
          <p:cNvPr id="232" name="Oval 231"/>
          <p:cNvSpPr/>
          <p:nvPr/>
        </p:nvSpPr>
        <p:spPr>
          <a:xfrm>
            <a:off x="6382512" y="18013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36576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가변적인 것은 데이터로, 고정적인 것은 코드로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페르소나 정의처럼 바뀔 가능성이 높은 부분은 테이블(FK)로 옮기고, 그래프 구조처럼 안정적인 로직만 코드로 남긴다.</a:t>
            </a:r>
          </a:p>
        </p:txBody>
      </p:sp>
      <p:sp>
        <p:nvSpPr>
          <p:cNvPr id="234" name="Oval 233"/>
          <p:cNvSpPr/>
          <p:nvPr/>
        </p:nvSpPr>
        <p:spPr>
          <a:xfrm>
            <a:off x="530352" y="38587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236208" y="36576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실측 없이 확답하지 않는다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 횟수·지연시간·토큰량 모두 추정에 그치지 않고 실기기 테스트로 검증한 뒤에야 다음 설계 단계로 넘어갔다.</a:t>
            </a:r>
          </a:p>
        </p:txBody>
      </p:sp>
      <p:sp>
        <p:nvSpPr>
          <p:cNvPr id="236" name="Oval 235"/>
          <p:cNvSpPr/>
          <p:nvPr/>
        </p:nvSpPr>
        <p:spPr>
          <a:xfrm>
            <a:off x="6382512" y="38587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10000"/>
          <a:stretch/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/>
          <p:nvPr/>
        </p:nvSpPr>
        <p:spPr>
          <a:xfrm>
            <a:off x="837107" y="2319980"/>
            <a:ext cx="6312167" cy="11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800"/>
              <a:buFont typeface="Arial"/>
              <a:buNone/>
            </a:pPr>
            <a:r>
              <a:rPr lang="en-US" sz="6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Thank you</a:t>
            </a:r>
            <a:endParaRPr sz="80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240" name="Google Shape;240;p17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CA1"/>
      </a:accent1>
      <a:accent2>
        <a:srgbClr val="00A5FF"/>
      </a:accent2>
      <a:accent3>
        <a:srgbClr val="1C4EA5"/>
      </a:accent3>
      <a:accent4>
        <a:srgbClr val="486FB5"/>
      </a:accent4>
      <a:accent5>
        <a:srgbClr val="3AA89E"/>
      </a:accent5>
      <a:accent6>
        <a:srgbClr val="082B53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5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764914-ACCC-4AE3-901D-9273F09061A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e1df7f0-2feb-42a7-92c0-c4f7604cf8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3747</Words>
  <Application>Microsoft Office PowerPoint</Application>
  <PresentationFormat>와이드스크린</PresentationFormat>
  <Paragraphs>481</Paragraphs>
  <Slides>27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맑은 고딕</vt:lpstr>
      <vt:lpstr>Arial</vt:lpstr>
      <vt:lpstr>Microsoft GothicNeo</vt:lpstr>
      <vt:lpstr>기본</vt:lpstr>
      <vt:lpstr>교육 콘텐츠 관리 플랫폼</vt:lpstr>
      <vt:lpstr>CONTENTS </vt:lpstr>
      <vt:lpstr>PART 01</vt:lpstr>
      <vt:lpstr>프로젝트 배경 및 목적</vt:lpstr>
      <vt:lpstr>시스템 구성 및 개발 방식</vt:lpstr>
      <vt:lpstr>PART 02</vt:lpstr>
      <vt:lpstr>전체 시스템 아키텍처</vt:lpstr>
      <vt:lpstr>데이터 저장 구조 — 3원화 전략</vt:lpstr>
      <vt:lpstr>핵심 워크플로 ① — 강의 배포</vt:lpstr>
      <vt:lpstr>핵심 워크플로 ② — 실시간 설문</vt:lpstr>
      <vt:lpstr>보안 · 인증 구조</vt:lpstr>
      <vt:lpstr>PART 03</vt:lpstr>
      <vt:lpstr>주요 기능 ① — 수강생 뷰어 (System A)</vt:lpstr>
      <vt:lpstr>주요 기능 ② — 강사 대시보드 (System B)</vt:lpstr>
      <vt:lpstr>주요 기능 ③ — 실시간 설문</vt:lpstr>
      <vt:lpstr>주요 기능 ④ — AI 기능 4종</vt:lpstr>
      <vt:lpstr>PART 04</vt:lpstr>
      <vt:lpstr>AI 기술 스택 구성</vt:lpstr>
      <vt:lpstr>AI 기능 공통 호출 구조</vt:lpstr>
      <vt:lpstr>LangGraph 기반 가상질문 생성 그래프</vt:lpstr>
      <vt:lpstr>강의자료 평가 — 4단계 파이프라인</vt:lpstr>
      <vt:lpstr>PART 05</vt:lpstr>
      <vt:lpstr>사례 ① — 가상질문 생성: 4페르소나 동시 → 1명 온디맨드</vt:lpstr>
      <vt:lpstr>사례 ② — 웹검색: 단일 호출 vs 2단계 분리</vt:lpstr>
      <vt:lpstr>사례 ③ — 원본 재전송 vs 파생 요약 재사용 (토큰 실측)</vt:lpstr>
      <vt:lpstr>종합 인사이트 — 세 사례를 관통하는 설계 원칙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Sooyoun Park</cp:lastModifiedBy>
  <cp:revision>26</cp:revision>
  <dcterms:modified xsi:type="dcterms:W3CDTF">2026-08-02T18:01:54Z</dcterms:modified>
</cp:coreProperties>
</file>