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7" r:id="rId3"/>
  </p:sldMasterIdLst>
  <p:notesMasterIdLst>
    <p:notesMasterId r:id="rId4"/>
  </p:notesMasterIdLst>
  <p:sldIdLst>
    <p:sldId id="300" r:id="rId5"/>
    <p:sldId id="301" r:id="rId6"/>
    <p:sldId id="302" r:id="rId7"/>
    <p:sldId id="303" r:id="rId20"/>
    <p:sldId id="304" r:id="rId21"/>
    <p:sldId id="305" r:id="rId16"/>
    <p:sldId id="306" r:id="rId22"/>
    <p:sldId id="307" r:id="rId23"/>
    <p:sldId id="308" r:id="rId24"/>
    <p:sldId id="309" r:id="rId25"/>
    <p:sldId id="310" r:id="rId26"/>
    <p:sldId id="311" r:id="rId17"/>
    <p:sldId id="312" r:id="rId27"/>
    <p:sldId id="313" r:id="rId28"/>
    <p:sldId id="314" r:id="rId29"/>
    <p:sldId id="315" r:id="rId30"/>
    <p:sldId id="316" r:id="rId18"/>
    <p:sldId id="317" r:id="rId31"/>
    <p:sldId id="318" r:id="rId32"/>
    <p:sldId id="319" r:id="rId33"/>
    <p:sldId id="320" r:id="rId34"/>
    <p:sldId id="321" r:id="rId19"/>
    <p:sldId id="322" r:id="rId35"/>
    <p:sldId id="323" r:id="rId36"/>
    <p:sldId id="324" r:id="rId37"/>
    <p:sldId id="325" r:id="rId38"/>
    <p:sldId id="326" r:id="rId11"/>
  </p:sldIdLst>
  <p:sldSz cy="6858000" cx="12192000"/>
  <p:notesSz cx="6858000" cy="9144000"/>
  <p:embeddedFontLst>
    <p:embeddedFont>
      <p:font typeface="Quattrocento Sans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11" Type="http://schemas.openxmlformats.org/officeDocument/2006/relationships/slide" Target="slides/slide27.xml"/><Relationship Id="rId12" Type="http://schemas.openxmlformats.org/officeDocument/2006/relationships/font" Target="fonts/QuattrocentoSans-regular.fntdata"/><Relationship Id="rId13" Type="http://schemas.openxmlformats.org/officeDocument/2006/relationships/font" Target="fonts/QuattrocentoSans-bold.fntdata"/><Relationship Id="rId14" Type="http://schemas.openxmlformats.org/officeDocument/2006/relationships/font" Target="fonts/QuattrocentoSans-italic.fntdata"/><Relationship Id="rId15" Type="http://schemas.openxmlformats.org/officeDocument/2006/relationships/font" Target="fonts/QuattrocentoSans-boldItalic.fntdata"/><Relationship Id="rId16" Type="http://schemas.openxmlformats.org/officeDocument/2006/relationships/slide" Target="slides/slide6.xml"/><Relationship Id="rId17" Type="http://schemas.openxmlformats.org/officeDocument/2006/relationships/slide" Target="slides/slide12.xml"/><Relationship Id="rId18" Type="http://schemas.openxmlformats.org/officeDocument/2006/relationships/slide" Target="slides/slide17.xml"/><Relationship Id="rId19" Type="http://schemas.openxmlformats.org/officeDocument/2006/relationships/slide" Target="slides/slide22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b="0" sz="3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838200" y="642627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1" type="ftr"/>
          </p:nvPr>
        </p:nvSpPr>
        <p:spPr>
          <a:xfrm>
            <a:off x="4038600" y="642627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과 내용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body"/>
          </p:nvPr>
        </p:nvSpPr>
        <p:spPr>
          <a:xfrm>
            <a:off x="322729" y="1312433"/>
            <a:ext cx="11494546" cy="50184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838200" y="642627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4038600" y="642627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2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838200" y="642627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4038600" y="642627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0" type="dt"/>
          </p:nvPr>
        </p:nvSpPr>
        <p:spPr>
          <a:xfrm>
            <a:off x="838200" y="642627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1" type="ftr"/>
          </p:nvPr>
        </p:nvSpPr>
        <p:spPr>
          <a:xfrm>
            <a:off x="4038600" y="642627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공백" type="blank">
  <p:cSld name="BLANK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idx="10" type="dt"/>
          </p:nvPr>
        </p:nvSpPr>
        <p:spPr>
          <a:xfrm>
            <a:off x="838200" y="642627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4038600" y="642627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열 내용" type="twoObj">
  <p:cSld name="TWO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42627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42627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열 제목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0" type="dt"/>
          </p:nvPr>
        </p:nvSpPr>
        <p:spPr>
          <a:xfrm>
            <a:off x="838200" y="642627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1" type="ftr"/>
          </p:nvPr>
        </p:nvSpPr>
        <p:spPr>
          <a:xfrm>
            <a:off x="4038600" y="642627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내용과 제목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9"/>
          <p:cNvSpPr txBox="1"/>
          <p:nvPr>
            <p:ph idx="10" type="dt"/>
          </p:nvPr>
        </p:nvSpPr>
        <p:spPr>
          <a:xfrm>
            <a:off x="838200" y="642627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1" type="ftr"/>
          </p:nvPr>
        </p:nvSpPr>
        <p:spPr>
          <a:xfrm>
            <a:off x="4038600" y="642627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그림과 제목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0"/>
          <p:cNvSpPr txBox="1"/>
          <p:nvPr>
            <p:ph idx="10" type="dt"/>
          </p:nvPr>
        </p:nvSpPr>
        <p:spPr>
          <a:xfrm>
            <a:off x="838200" y="642627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1" type="ftr"/>
          </p:nvPr>
        </p:nvSpPr>
        <p:spPr>
          <a:xfrm>
            <a:off x="4038600" y="642627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 b="1" i="0" sz="4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322729" y="1312433"/>
            <a:ext cx="11494546" cy="50184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42627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42627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2643" y="6577090"/>
            <a:ext cx="1252537" cy="21431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1"/>
          <p:cNvPicPr preferRelativeResize="0"/>
          <p:nvPr/>
        </p:nvPicPr>
        <p:blipFill rotWithShape="1">
          <a:blip r:embed="rId3">
            <a:alphaModFix/>
          </a:blip>
          <a:srcRect b="10000" l="0" r="0" t="0"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1"/>
          <p:cNvSpPr/>
          <p:nvPr/>
        </p:nvSpPr>
        <p:spPr>
          <a:xfrm>
            <a:off x="10136099" y="5544038"/>
            <a:ext cx="1791091" cy="432000"/>
          </a:xfrm>
          <a:prstGeom prst="rect">
            <a:avLst/>
          </a:prstGeom>
          <a:solidFill>
            <a:srgbClr val="3786B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2026. 08.</a:t>
            </a:r>
            <a:endParaRPr b="1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1"/>
          <p:cNvSpPr txBox="1"/>
          <p:nvPr>
            <p:ph type="ctrTitle"/>
          </p:nvPr>
        </p:nvSpPr>
        <p:spPr>
          <a:xfrm>
            <a:off x="4790660" y="1898373"/>
            <a:ext cx="6901553" cy="10993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Arial"/>
              <a:buNone/>
            </a:pPr>
            <a:r>
              <a:rPr lang="en-US" sz="3000"/>
              <a:t>DSA 교육 콘텐츠 관리 플랫폼</a:t>
            </a:r>
            <a:endParaRPr/>
          </a:p>
        </p:txBody>
      </p:sp>
      <p:sp>
        <p:nvSpPr>
          <p:cNvPr id="80" name="Google Shape;80;p11"/>
          <p:cNvSpPr txBox="1"/>
          <p:nvPr>
            <p:ph idx="1" type="subTitle"/>
          </p:nvPr>
        </p:nvSpPr>
        <p:spPr>
          <a:xfrm>
            <a:off x="4790659" y="3152507"/>
            <a:ext cx="6929557" cy="852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None/>
            </a:pPr>
            <a:r>
              <a:rPr sz="1400" b="1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교육 콘텐츠 웹 뷰어 및 관리 시스템 — 프로젝트 소개</a:t>
            </a:r>
            <a:endParaRPr/>
          </a:p>
          <a:p>
            <a:pPr algn="l">
              <a:spcAft>
                <a:spcPts val="1000"/>
              </a:spcAft>
            </a:pPr>
            <a:r>
              <a:rPr sz="1100" b="0" i="0">
                <a:solidFill>
                  <a:srgbClr val="8A8A8A"/>
                </a:solidFill>
                <a:latin typeface="맑은 고딕"/>
                <a:ea typeface="맑은 고딕"/>
                <a:cs typeface="맑은 고딕"/>
              </a:rPr>
              <a:t>Google Apps Script  ·  Cloud Run (FastAPI · LangChain · LangGraph)  ·  Supabase  ·  OpenAI GPT-4o</a:t>
            </a:r>
          </a:p>
          <a:p>
            <a:pPr algn="l"/>
            <a:r>
              <a:rPr sz="12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박수연  ·  박희용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" name="Google Shape;85;p12"/>
          <p:cNvCxnSpPr/>
          <p:nvPr/>
        </p:nvCxnSpPr>
        <p:spPr>
          <a:xfrm>
            <a:off x="660400" y="0"/>
            <a:ext cx="0" cy="518984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86" name="Google Shape;86;p12"/>
          <p:cNvCxnSpPr/>
          <p:nvPr/>
        </p:nvCxnSpPr>
        <p:spPr>
          <a:xfrm>
            <a:off x="1008184" y="2080845"/>
            <a:ext cx="808892" cy="0"/>
          </a:xfrm>
          <a:prstGeom prst="straightConnector1">
            <a:avLst/>
          </a:prstGeom>
          <a:noFill/>
          <a:ln cap="rnd" cmpd="sng" w="698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87" name="Google Shape;87;p12"/>
          <p:cNvCxnSpPr/>
          <p:nvPr/>
        </p:nvCxnSpPr>
        <p:spPr>
          <a:xfrm>
            <a:off x="2121877" y="2080845"/>
            <a:ext cx="2321169" cy="0"/>
          </a:xfrm>
          <a:prstGeom prst="straightConnector1">
            <a:avLst/>
          </a:prstGeom>
          <a:noFill/>
          <a:ln cap="rnd" cmpd="sng" w="698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88" name="Google Shape;88;p12"/>
          <p:cNvSpPr txBox="1"/>
          <p:nvPr/>
        </p:nvSpPr>
        <p:spPr>
          <a:xfrm>
            <a:off x="891340" y="2250285"/>
            <a:ext cx="4271879" cy="568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시스템 아키텍처와 AI 기능을 중심으로</a:t>
            </a:r>
            <a:endParaRPr/>
          </a:p>
          <a:p>
            <a:pPr algn="l"/>
            <a:r>
              <a:rPr sz="11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프로젝트의 개발 과정과 결과물을 소개합니다.</a:t>
            </a:r>
          </a:p>
        </p:txBody>
      </p:sp>
      <p:sp>
        <p:nvSpPr>
          <p:cNvPr id="89" name="Google Shape;89;p12"/>
          <p:cNvSpPr/>
          <p:nvPr/>
        </p:nvSpPr>
        <p:spPr>
          <a:xfrm rot="-1345248">
            <a:off x="2164989" y="5925063"/>
            <a:ext cx="293483" cy="293483"/>
          </a:xfrm>
          <a:prstGeom prst="roundRect">
            <a:avLst>
              <a:gd fmla="val 16667" name="adj"/>
            </a:avLst>
          </a:prstGeom>
          <a:solidFill>
            <a:srgbClr val="7F7F7F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2"/>
          <p:cNvSpPr/>
          <p:nvPr/>
        </p:nvSpPr>
        <p:spPr>
          <a:xfrm rot="-488464">
            <a:off x="9858154" y="1608519"/>
            <a:ext cx="465306" cy="465306"/>
          </a:xfrm>
          <a:prstGeom prst="roundRect">
            <a:avLst>
              <a:gd fmla="val 16667" name="adj"/>
            </a:avLst>
          </a:prstGeom>
          <a:solidFill>
            <a:srgbClr val="7F7F7F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2"/>
          <p:cNvSpPr txBox="1"/>
          <p:nvPr/>
        </p:nvSpPr>
        <p:spPr>
          <a:xfrm>
            <a:off x="8002768" y="3451362"/>
            <a:ext cx="2657324" cy="5298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추진 배경과 목적 · 시스템 구성 · 개발 방식과 역할 분담</a:t>
            </a:r>
            <a:endParaRPr/>
          </a:p>
        </p:txBody>
      </p:sp>
      <p:sp>
        <p:nvSpPr>
          <p:cNvPr id="92" name="Google Shape;92;p12"/>
          <p:cNvSpPr/>
          <p:nvPr/>
        </p:nvSpPr>
        <p:spPr>
          <a:xfrm>
            <a:off x="4072467" y="3353911"/>
            <a:ext cx="3809255" cy="37812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90000" spcFirstLastPara="1" rIns="90000" wrap="square" tIns="9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 01  ·  프로젝트 개요</a:t>
            </a:r>
            <a:endParaRPr/>
          </a:p>
        </p:txBody>
      </p:sp>
      <p:sp>
        <p:nvSpPr>
          <p:cNvPr id="93" name="Google Shape;93;p12"/>
          <p:cNvSpPr/>
          <p:nvPr/>
        </p:nvSpPr>
        <p:spPr>
          <a:xfrm>
            <a:off x="10781138" y="3485064"/>
            <a:ext cx="227229" cy="227229"/>
          </a:xfrm>
          <a:prstGeom prst="roundRect">
            <a:avLst>
              <a:gd fmla="val 16667" name="adj"/>
            </a:avLst>
          </a:prstGeom>
          <a:solidFill>
            <a:srgbClr val="7F7F7F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2"/>
          <p:cNvSpPr txBox="1"/>
          <p:nvPr/>
        </p:nvSpPr>
        <p:spPr>
          <a:xfrm>
            <a:off x="8002768" y="4127236"/>
            <a:ext cx="2657324" cy="5298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전체 구조도 · 데이터 저장 3원화 · 핵심 워크플로 · 보안 구조</a:t>
            </a:r>
            <a:endParaRPr/>
          </a:p>
        </p:txBody>
      </p:sp>
      <p:sp>
        <p:nvSpPr>
          <p:cNvPr id="95" name="Google Shape;95;p12"/>
          <p:cNvSpPr/>
          <p:nvPr/>
        </p:nvSpPr>
        <p:spPr>
          <a:xfrm>
            <a:off x="4072467" y="4029785"/>
            <a:ext cx="3809255" cy="54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90000" spcFirstLastPara="1" rIns="90000" wrap="square" tIns="9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 02  ·  시스템 아키텍처</a:t>
            </a:r>
            <a:endParaRPr/>
          </a:p>
        </p:txBody>
      </p:sp>
      <p:sp>
        <p:nvSpPr>
          <p:cNvPr id="96" name="Google Shape;96;p12"/>
          <p:cNvSpPr/>
          <p:nvPr/>
        </p:nvSpPr>
        <p:spPr>
          <a:xfrm>
            <a:off x="10781138" y="4160938"/>
            <a:ext cx="227229" cy="227229"/>
          </a:xfrm>
          <a:prstGeom prst="roundRect">
            <a:avLst>
              <a:gd fmla="val 16667" name="adj"/>
            </a:avLst>
          </a:prstGeom>
          <a:solidFill>
            <a:srgbClr val="7F7F7F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8002768" y="4803110"/>
            <a:ext cx="2657324" cy="5298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수강생 뷰어 · 강사 대시보드 · 실시간 설문 · AI 기능 4종</a:t>
            </a:r>
            <a:endParaRPr/>
          </a:p>
        </p:txBody>
      </p:sp>
      <p:sp>
        <p:nvSpPr>
          <p:cNvPr id="98" name="Google Shape;98;p12"/>
          <p:cNvSpPr/>
          <p:nvPr/>
        </p:nvSpPr>
        <p:spPr>
          <a:xfrm>
            <a:off x="4072467" y="4705659"/>
            <a:ext cx="3809255" cy="42384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90000" spcFirstLastPara="1" rIns="90000" wrap="square" tIns="9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 03  ·  주요 기능</a:t>
            </a:r>
            <a:endParaRPr/>
          </a:p>
        </p:txBody>
      </p:sp>
      <p:sp>
        <p:nvSpPr>
          <p:cNvPr id="99" name="Google Shape;99;p12"/>
          <p:cNvSpPr/>
          <p:nvPr/>
        </p:nvSpPr>
        <p:spPr>
          <a:xfrm>
            <a:off x="10781138" y="4836812"/>
            <a:ext cx="227229" cy="227229"/>
          </a:xfrm>
          <a:prstGeom prst="roundRect">
            <a:avLst>
              <a:gd fmla="val 16667" name="adj"/>
            </a:avLst>
          </a:prstGeom>
          <a:solidFill>
            <a:srgbClr val="7F7F7F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2"/>
          <p:cNvSpPr txBox="1"/>
          <p:nvPr/>
        </p:nvSpPr>
        <p:spPr>
          <a:xfrm>
            <a:off x="8002768" y="5478984"/>
            <a:ext cx="2657324" cy="5298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FastAPI · LangChain · LangGraph · GPT-4o — 호출 구조와 체인 설계</a:t>
            </a:r>
            <a:endParaRPr/>
          </a:p>
        </p:txBody>
      </p:sp>
      <p:sp>
        <p:nvSpPr>
          <p:cNvPr id="101" name="Google Shape;101;p12"/>
          <p:cNvSpPr/>
          <p:nvPr/>
        </p:nvSpPr>
        <p:spPr>
          <a:xfrm>
            <a:off x="4072467" y="5381533"/>
            <a:ext cx="3809255" cy="54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90000" spcFirstLastPara="1" rIns="90000" wrap="square" tIns="9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 04  ·  AI 기능 상세 · 기술 스택</a:t>
            </a:r>
            <a:endParaRPr/>
          </a:p>
        </p:txBody>
      </p:sp>
      <p:sp>
        <p:nvSpPr>
          <p:cNvPr id="102" name="Google Shape;102;p12"/>
          <p:cNvSpPr/>
          <p:nvPr/>
        </p:nvSpPr>
        <p:spPr>
          <a:xfrm>
            <a:off x="10781138" y="5512686"/>
            <a:ext cx="227229" cy="227229"/>
          </a:xfrm>
          <a:prstGeom prst="roundRect">
            <a:avLst>
              <a:gd fmla="val 16667" name="adj"/>
            </a:avLst>
          </a:prstGeom>
          <a:solidFill>
            <a:srgbClr val="7F7F7F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2"/>
          <p:cNvSpPr/>
          <p:nvPr/>
        </p:nvSpPr>
        <p:spPr>
          <a:xfrm>
            <a:off x="0" y="5017754"/>
            <a:ext cx="1930055" cy="1840246"/>
          </a:xfrm>
          <a:custGeom>
            <a:rect b="b" l="l" r="r" t="t"/>
            <a:pathLst>
              <a:path extrusionOk="0" h="1840246" w="1930054">
                <a:moveTo>
                  <a:pt x="15951" y="0"/>
                </a:moveTo>
                <a:lnTo>
                  <a:pt x="1755845" y="307691"/>
                </a:lnTo>
                <a:cubicBezTo>
                  <a:pt x="1870544" y="327975"/>
                  <a:pt x="1947082" y="437399"/>
                  <a:pt x="1926798" y="552098"/>
                </a:cubicBezTo>
                <a:lnTo>
                  <a:pt x="1698996" y="1840246"/>
                </a:lnTo>
                <a:lnTo>
                  <a:pt x="0" y="1840246"/>
                </a:lnTo>
                <a:lnTo>
                  <a:pt x="0" y="38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2"/>
          <p:cNvSpPr/>
          <p:nvPr/>
        </p:nvSpPr>
        <p:spPr>
          <a:xfrm>
            <a:off x="10528106" y="0"/>
            <a:ext cx="1663894" cy="1851832"/>
          </a:xfrm>
          <a:custGeom>
            <a:rect b="b" l="l" r="r" t="t"/>
            <a:pathLst>
              <a:path extrusionOk="0" h="1851831" w="1663893">
                <a:moveTo>
                  <a:pt x="0" y="0"/>
                </a:moveTo>
                <a:lnTo>
                  <a:pt x="1663894" y="0"/>
                </a:lnTo>
                <a:lnTo>
                  <a:pt x="1663894" y="1664944"/>
                </a:lnTo>
                <a:lnTo>
                  <a:pt x="504167" y="1849228"/>
                </a:lnTo>
                <a:cubicBezTo>
                  <a:pt x="390871" y="1867231"/>
                  <a:pt x="284433" y="1789981"/>
                  <a:pt x="266430" y="167668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2"/>
          <p:cNvSpPr txBox="1"/>
          <p:nvPr>
            <p:ph type="title"/>
          </p:nvPr>
        </p:nvSpPr>
        <p:spPr>
          <a:xfrm>
            <a:off x="980135" y="1279524"/>
            <a:ext cx="10515600" cy="7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lang="en-US"/>
              <a:t>CONTENTS</a:t>
            </a:r>
            <a:br>
              <a:rPr lang="en-US"/>
            </a:br>
            <a:endParaRPr/>
          </a:p>
        </p:txBody>
      </p:sp>
      <p:sp>
        <p:nvSpPr>
          <p:cNvPr id="106" name="Google Shape;106;p12"/>
          <p:cNvSpPr txBox="1"/>
          <p:nvPr>
            <p:ph idx="12" type="sldNum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12"/>
          <p:cNvSpPr/>
          <p:nvPr/>
        </p:nvSpPr>
        <p:spPr>
          <a:xfrm>
            <a:off x="4072467" y="6057407"/>
            <a:ext cx="3809255" cy="54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90000" spcFirstLastPara="1" rIns="90000" wrap="square" tIns="9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 05  ·  설계 검증 · 비교 사례</a:t>
            </a:r>
            <a:endParaRPr/>
          </a:p>
        </p:txBody>
      </p:sp>
      <p:sp>
        <p:nvSpPr>
          <p:cNvPr id="100" name="Google Shape;100;p12"/>
          <p:cNvSpPr txBox="1"/>
          <p:nvPr/>
        </p:nvSpPr>
        <p:spPr>
          <a:xfrm>
            <a:off x="8002768" y="6154858"/>
            <a:ext cx="2657324" cy="5298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반복된 실패가 설계를 바꾼 과정 — AS-IS / TO-BE 비교</a:t>
            </a:r>
            <a:endParaRPr/>
          </a:p>
        </p:txBody>
      </p:sp>
      <p:sp>
        <p:nvSpPr>
          <p:cNvPr id="102" name="Google Shape;102;p12"/>
          <p:cNvSpPr/>
          <p:nvPr/>
        </p:nvSpPr>
        <p:spPr>
          <a:xfrm>
            <a:off x="10781138" y="6188560"/>
            <a:ext cx="227229" cy="227229"/>
          </a:xfrm>
          <a:prstGeom prst="roundRect">
            <a:avLst>
              <a:gd fmla="val 16667" name="adj"/>
            </a:avLst>
          </a:prstGeom>
          <a:solidFill>
            <a:srgbClr val="7F7F7F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3"/>
          <p:cNvPicPr preferRelativeResize="0"/>
          <p:nvPr/>
        </p:nvPicPr>
        <p:blipFill rotWithShape="1">
          <a:blip r:embed="rId3">
            <a:alphaModFix/>
          </a:blip>
          <a:srcRect b="5000" l="0" r="0" t="4999"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3"/>
          <p:cNvSpPr/>
          <p:nvPr/>
        </p:nvSpPr>
        <p:spPr>
          <a:xfrm>
            <a:off x="4471026" y="3062808"/>
            <a:ext cx="3763404" cy="5233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프로젝트 개요</a:t>
            </a:r>
            <a:endParaRPr b="1" i="0" sz="2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3"/>
          <p:cNvSpPr txBox="1"/>
          <p:nvPr>
            <p:ph type="title"/>
          </p:nvPr>
        </p:nvSpPr>
        <p:spPr>
          <a:xfrm>
            <a:off x="4214297" y="2295634"/>
            <a:ext cx="4276863" cy="7067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lang="en-US"/>
              <a:t>PART 01</a:t>
            </a:r>
            <a:endParaRPr/>
          </a:p>
        </p:txBody>
      </p:sp>
      <p:sp>
        <p:nvSpPr>
          <p:cNvPr id="115" name="Google Shape;115;p13"/>
          <p:cNvSpPr txBox="1"/>
          <p:nvPr>
            <p:ph idx="1" type="body"/>
          </p:nvPr>
        </p:nvSpPr>
        <p:spPr>
          <a:xfrm>
            <a:off x="2212848" y="3767328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en-US" sz="1250">
                <a:solidFill>
                  <a:srgbClr val="595959"/>
                </a:solidFill>
              </a:rPr>
              <a:t>추진 배경과 목적  ·  시스템 구성  ·  개발 방식과 역할 분담</a:t>
            </a:r>
            <a:endParaRPr/>
          </a:p>
        </p:txBody>
      </p:sp>
      <p:sp>
        <p:nvSpPr>
          <p:cNvPr id="116" name="Google Shape;116;p13"/>
          <p:cNvSpPr txBox="1"/>
          <p:nvPr>
            <p:ph idx="12" type="sldNum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/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/>
              <a:t>프로젝트 배경 및 목적</a:t>
            </a:r>
            <a:endParaRPr/>
          </a:p>
        </p:txBody>
      </p:sp>
      <p:sp>
        <p:nvSpPr>
          <p:cNvPr id="227" name="Google Shape;227;p15"/>
          <p:cNvSpPr txBox="1"/>
          <p:nvPr>
            <p:ph idx="12" type="sldNum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384048" y="1005840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기존 LMS와 별도로, 교육 콘텐츠의 안전한 공유와 생성형 AI 활용을 하나로 묶는 통합 플랫폼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384048" y="141732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추진 배경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384048" y="1783080"/>
            <a:ext cx="5394960" cy="1691640"/>
          </a:xfrm>
          <a:prstGeom prst="roundRect">
            <a:avLst>
              <a:gd name="adj" fmla="val 5000"/>
            </a:avLst>
          </a:prstGeom>
          <a:solidFill>
            <a:srgbClr val="EFF5FB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/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다양한 교육 운영 업무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AX·DX 교육과 일본 IT 해외취업 과정을 운영하며 교육관리 · 취업지원 · 교육 콘텐츠 관리 · 홍보마케팅 제작 등 다양한 업무를 수행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384048" y="3657600"/>
            <a:ext cx="5394960" cy="1691640"/>
          </a:xfrm>
          <a:prstGeom prst="roundRect">
            <a:avLst>
              <a:gd name="adj" fmla="val 5000"/>
            </a:avLst>
          </a:prstGeom>
          <a:solidFill>
            <a:srgbClr val="EFF5FB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/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통합 플랫폼의 필요성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교육 콘텐츠를 안전하게 공유하고, 생성형 AI로 다양한 형태의 교육·취업 지원 자료를 자동 생성할 수 있는 별도 플랫폼 구축 요구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72200" y="141732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프로젝트 목적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6172200" y="1783080"/>
            <a:ext cx="562356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2920" rIns="82296" tIns="91440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안전한 콘텐츠 공유</a:t>
            </a:r>
          </a:p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강의 교안(PPT)을 웹 기반으로 변환 — 수강생은 편집·다운로드 없이 목차와 함께 열람</a:t>
            </a:r>
          </a:p>
        </p:txBody>
      </p:sp>
      <p:sp>
        <p:nvSpPr>
          <p:cNvPr id="234" name="Oval 233"/>
          <p:cNvSpPr/>
          <p:nvPr/>
        </p:nvSpPr>
        <p:spPr>
          <a:xfrm>
            <a:off x="6309360" y="2112264"/>
            <a:ext cx="384048" cy="384048"/>
          </a:xfrm>
          <a:prstGeom prst="ellipse">
            <a:avLst/>
          </a:prstGeom>
          <a:solidFill>
            <a:srgbClr val="378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6172200" y="3017520"/>
            <a:ext cx="562356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2920" rIns="82296" tIns="91440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AI 기반 강의 지원</a:t>
            </a:r>
          </a:p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시험문제 생성 · 설문 의견 요약 · 가상 학생질문 · 강의자료 평가를 생성형 AI로 자동화</a:t>
            </a:r>
          </a:p>
        </p:txBody>
      </p:sp>
      <p:sp>
        <p:nvSpPr>
          <p:cNvPr id="236" name="Oval 235"/>
          <p:cNvSpPr/>
          <p:nvPr/>
        </p:nvSpPr>
        <p:spPr>
          <a:xfrm>
            <a:off x="6309360" y="3346703"/>
            <a:ext cx="384048" cy="384048"/>
          </a:xfrm>
          <a:prstGeom prst="ellipse">
            <a:avLst/>
          </a:prstGeom>
          <a:solidFill>
            <a:srgbClr val="378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37" name="Rounded Rectangle 236"/>
          <p:cNvSpPr/>
          <p:nvPr/>
        </p:nvSpPr>
        <p:spPr>
          <a:xfrm>
            <a:off x="6172200" y="4251960"/>
            <a:ext cx="562356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2920" rIns="82296" tIns="91440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데이터 기반 운영</a:t>
            </a:r>
          </a:p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연수생·취업 데이터를 수집·분석하여 통계 · 성과 보고서 · 홍보자료 자동 생성 (시스템 C, 확장 예정)</a:t>
            </a:r>
          </a:p>
        </p:txBody>
      </p:sp>
      <p:sp>
        <p:nvSpPr>
          <p:cNvPr id="238" name="Oval 237"/>
          <p:cNvSpPr/>
          <p:nvPr/>
        </p:nvSpPr>
        <p:spPr>
          <a:xfrm>
            <a:off x="6309360" y="4581144"/>
            <a:ext cx="384048" cy="384048"/>
          </a:xfrm>
          <a:prstGeom prst="ellipse">
            <a:avLst/>
          </a:prstGeom>
          <a:solidFill>
            <a:srgbClr val="378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384048" y="5669280"/>
            <a:ext cx="11411712" cy="713232"/>
          </a:xfrm>
          <a:prstGeom prst="roundRect">
            <a:avLst>
              <a:gd name="adj" fmla="val 12000"/>
            </a:avLst>
          </a:prstGeom>
          <a:solidFill>
            <a:srgbClr val="1F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54864"/>
          <a:lstStyle/>
          <a:p>
            <a:pPr algn="ctr"/>
            <a:r>
              <a:rPr sz="1100" b="1" i="0">
                <a:solidFill>
                  <a:srgbClr val="9DC6E8"/>
                </a:solidFill>
                <a:latin typeface="맑은 고딕"/>
                <a:ea typeface="맑은 고딕"/>
                <a:cs typeface="맑은 고딕"/>
              </a:rPr>
              <a:t>목표   </a:t>
            </a: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교육 콘텐츠 관리 · 학습 지원 · 데이터 분석/보고를 하나의 플랫폼으로 통합 → 교육 운영의 디지털화와 업무 생산성 향상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/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/>
              <a:t>시스템 구성 및 개발 방식</a:t>
            </a:r>
            <a:endParaRPr/>
          </a:p>
        </p:txBody>
      </p:sp>
      <p:sp>
        <p:nvSpPr>
          <p:cNvPr id="227" name="Google Shape;227;p15"/>
          <p:cNvSpPr txBox="1"/>
          <p:nvPr>
            <p:ph idx="12" type="sldNum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384048" y="1005840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별도 서버·DB를 새로 구축하지 않고 Google Workspace 자원을 최대한 활용한 경량 구성 — GAS 프로젝트 4개 + AI 전용 서버 1개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384048" y="1481328"/>
            <a:ext cx="221284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82296" tIns="91440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publish-engine</a:t>
            </a:r>
          </a:p>
          <a:p>
            <a:pPr algn="l">
              <a:spcAft>
                <a:spcPts val="500"/>
              </a:spcAft>
            </a:pPr>
            <a:r>
              <a:rPr sz="85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GAS 라이브러리</a:t>
            </a:r>
          </a:p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슬라이드 변환·웹게시·목차 추출·DB 기록을 담당하는 공용 "엔진" — 3개 시스템이 공유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2688336" y="1481328"/>
            <a:ext cx="221284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82296" tIns="91440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system-a-viewer</a:t>
            </a:r>
          </a:p>
          <a:p>
            <a:pPr algn="l">
              <a:spcAft>
                <a:spcPts val="500"/>
              </a:spcAft>
            </a:pPr>
            <a:r>
              <a:rPr sz="850" b="1" i="0">
                <a:solidFill>
                  <a:srgbClr val="5B9BD5"/>
                </a:solidFill>
                <a:latin typeface="맑은 고딕"/>
                <a:ea typeface="맑은 고딕"/>
                <a:cs typeface="맑은 고딕"/>
              </a:rPr>
              <a:t>웹앱 · 전체 공개</a:t>
            </a:r>
          </a:p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수강생 뷰어 — 로그인 불필요, ?k=키워드 접속, 목차+슬라이드 열람 · 설문 응답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4992624" y="1481328"/>
            <a:ext cx="221284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82296" tIns="91440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system-b-dashboard</a:t>
            </a:r>
          </a:p>
          <a:p>
            <a:pPr algn="l">
              <a:spcAft>
                <a:spcPts val="500"/>
              </a:spcAft>
            </a:pPr>
            <a:r>
              <a:rPr sz="850" b="1" i="0">
                <a:solidFill>
                  <a:srgbClr val="5B9BD5"/>
                </a:solidFill>
                <a:latin typeface="맑은 고딕"/>
                <a:ea typeface="맑은 고딕"/>
                <a:cs typeface="맑은 고딕"/>
              </a:rPr>
              <a:t>웹앱 · 조직 내부</a:t>
            </a:r>
          </a:p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강사 대시보드 — 배포/수정/삭제, 실시간 설문 출제, AI 기능 4종 호출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7296912" y="1481328"/>
            <a:ext cx="221284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82296" tIns="91440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system-c-excel</a:t>
            </a:r>
          </a:p>
          <a:p>
            <a:pPr algn="l">
              <a:spcAft>
                <a:spcPts val="500"/>
              </a:spcAft>
            </a:pPr>
            <a:r>
              <a:rPr sz="850" b="1" i="0">
                <a:solidFill>
                  <a:srgbClr val="8A8A8A"/>
                </a:solidFill>
                <a:latin typeface="맑은 고딕"/>
                <a:ea typeface="맑은 고딕"/>
                <a:cs typeface="맑은 고딕"/>
              </a:rPr>
              <a:t>웹앱 · 구현 예정</a:t>
            </a:r>
          </a:p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취업/연수생 엑셀 데이터 분석 · 통계 보고서와 홍보자료 자동 생성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9601200" y="1481328"/>
            <a:ext cx="221284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82296" tIns="91440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ai-server</a:t>
            </a:r>
          </a:p>
          <a:p>
            <a:pPr algn="l">
              <a:spcAft>
                <a:spcPts val="500"/>
              </a:spcAft>
            </a:pPr>
            <a:r>
              <a:rPr sz="850"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Cloud Run · Python</a:t>
            </a:r>
          </a:p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AI 전용 백엔드 — FastAPI 엔드포인트 4개, LangChain/LangGraph로 GPT-4o 호출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384048" y="3584448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개발 방식 · 환경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384048" y="3931920"/>
            <a:ext cx="5577840" cy="548640"/>
          </a:xfrm>
          <a:prstGeom prst="roundRect">
            <a:avLst>
              <a:gd name="adj" fmla="val 10000"/>
            </a:avLst>
          </a:prstGeom>
          <a:solidFill>
            <a:srgbClr val="EF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82296" tIns="54864"/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서버리스 구성   </a:t>
            </a:r>
            <a:r>
              <a:rPr sz="9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Workspace(Drive·Slides·Sheets) 자원 활용, 배포·접근제어는 구글 계정 체계에 위임</a:t>
            </a:r>
          </a:p>
        </p:txBody>
      </p:sp>
      <p:sp>
        <p:nvSpPr>
          <p:cNvPr id="236" name="Rounded Rectangle 235"/>
          <p:cNvSpPr/>
          <p:nvPr/>
        </p:nvSpPr>
        <p:spPr>
          <a:xfrm>
            <a:off x="384048" y="4572000"/>
            <a:ext cx="5577840" cy="548640"/>
          </a:xfrm>
          <a:prstGeom prst="roundRect">
            <a:avLst>
              <a:gd name="adj" fmla="val 10000"/>
            </a:avLst>
          </a:prstGeom>
          <a:solidFill>
            <a:srgbClr val="EF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82296" tIns="54864"/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로컬 개발   </a:t>
            </a:r>
            <a:r>
              <a:rPr sz="9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clasp(로컬↔Apps Script 동기화) + Claude Code 기반 개발</a:t>
            </a:r>
          </a:p>
        </p:txBody>
      </p:sp>
      <p:sp>
        <p:nvSpPr>
          <p:cNvPr id="237" name="Rounded Rectangle 236"/>
          <p:cNvSpPr/>
          <p:nvPr/>
        </p:nvSpPr>
        <p:spPr>
          <a:xfrm>
            <a:off x="384048" y="5212080"/>
            <a:ext cx="5577840" cy="548640"/>
          </a:xfrm>
          <a:prstGeom prst="roundRect">
            <a:avLst>
              <a:gd name="adj" fmla="val 10000"/>
            </a:avLst>
          </a:prstGeom>
          <a:solidFill>
            <a:srgbClr val="EF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82296" tIns="54864"/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형상 관리   </a:t>
            </a:r>
            <a:r>
              <a:rPr sz="9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GitHub 모노레포 — 5개 서브프로젝트(GAS 4 + ai-server)를 한 저장소로 관리</a:t>
            </a:r>
          </a:p>
        </p:txBody>
      </p:sp>
      <p:sp>
        <p:nvSpPr>
          <p:cNvPr id="238" name="Rounded Rectangle 237"/>
          <p:cNvSpPr/>
          <p:nvPr/>
        </p:nvSpPr>
        <p:spPr>
          <a:xfrm>
            <a:off x="384048" y="5852160"/>
            <a:ext cx="5577840" cy="548640"/>
          </a:xfrm>
          <a:prstGeom prst="roundRect">
            <a:avLst>
              <a:gd name="adj" fmla="val 10000"/>
            </a:avLst>
          </a:prstGeom>
          <a:solidFill>
            <a:srgbClr val="EF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82296" tIns="54864"/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자동 배포   </a:t>
            </a:r>
            <a:r>
              <a:rPr sz="9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Cloud Build → Artifact Registry → Cloud Run, main 브랜치 push만으로 빌드~배포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6263640" y="3584448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개발 업무 분배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6263640" y="3931920"/>
            <a:ext cx="2715768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82296" tIns="109728"/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박수연</a:t>
            </a:r>
          </a:p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기술개발 · 시스템 통합 총괄</a:t>
            </a:r>
          </a:p>
          <a:p>
            <a:pPr algn="l">
              <a:lnSpc>
                <a:spcPct val="118000"/>
              </a:lnSpc>
            </a:pPr>
            <a:r>
              <a:rPr sz="88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전체 아키텍처·데이터 연계 설계, 공통 모듈·게시엔진 개발, 시스템 A·B 구현 및 연계/배포 관리</a:t>
            </a:r>
          </a:p>
        </p:txBody>
      </p:sp>
      <p:sp>
        <p:nvSpPr>
          <p:cNvPr id="241" name="Rounded Rectangle 240"/>
          <p:cNvSpPr/>
          <p:nvPr/>
        </p:nvSpPr>
        <p:spPr>
          <a:xfrm>
            <a:off x="9116567" y="3931920"/>
            <a:ext cx="2715768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82296" tIns="109728"/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박희용</a:t>
            </a:r>
          </a:p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요구사항 분석 · 서비스 기획</a:t>
            </a:r>
          </a:p>
          <a:p>
            <a:pPr algn="l">
              <a:lnSpc>
                <a:spcPct val="118000"/>
              </a:lnSpc>
            </a:pPr>
            <a:r>
              <a:rPr sz="88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사용자별 요구사항 정의·기능 우선순위, 운영 시나리오 설계, 뷰어 화면 구성·취업관리 시스템, 사용자 테스트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6263640" y="645566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8A8A8A"/>
                </a:solidFill>
                <a:latin typeface="맑은 고딕"/>
                <a:ea typeface="맑은 고딕"/>
                <a:cs typeface="맑은 고딕"/>
              </a:rPr>
              <a:t>GitHub: rockfe99/dsacontents (모노레포)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3"/>
          <p:cNvPicPr preferRelativeResize="0"/>
          <p:nvPr/>
        </p:nvPicPr>
        <p:blipFill rotWithShape="1">
          <a:blip r:embed="rId3">
            <a:alphaModFix/>
          </a:blip>
          <a:srcRect b="5000" l="0" r="0" t="4999"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3"/>
          <p:cNvSpPr/>
          <p:nvPr/>
        </p:nvSpPr>
        <p:spPr>
          <a:xfrm>
            <a:off x="4471026" y="3062808"/>
            <a:ext cx="3763404" cy="5233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시스템 아키텍처</a:t>
            </a:r>
            <a:endParaRPr b="1" i="0" sz="2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3"/>
          <p:cNvSpPr txBox="1"/>
          <p:nvPr>
            <p:ph type="title"/>
          </p:nvPr>
        </p:nvSpPr>
        <p:spPr>
          <a:xfrm>
            <a:off x="4214297" y="2295634"/>
            <a:ext cx="4276863" cy="7067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lang="en-US"/>
              <a:t>PART 02</a:t>
            </a:r>
            <a:endParaRPr/>
          </a:p>
        </p:txBody>
      </p:sp>
      <p:sp>
        <p:nvSpPr>
          <p:cNvPr id="115" name="Google Shape;115;p13"/>
          <p:cNvSpPr txBox="1"/>
          <p:nvPr>
            <p:ph idx="1" type="body"/>
          </p:nvPr>
        </p:nvSpPr>
        <p:spPr>
          <a:xfrm>
            <a:off x="2212848" y="3767328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en-US" sz="1250">
                <a:solidFill>
                  <a:srgbClr val="595959"/>
                </a:solidFill>
              </a:rPr>
              <a:t>전체 구조도  ·  데이터 저장 3원화  ·  배포/설문 워크플로  ·  보안 구조</a:t>
            </a:r>
            <a:endParaRPr/>
          </a:p>
        </p:txBody>
      </p:sp>
      <p:sp>
        <p:nvSpPr>
          <p:cNvPr id="116" name="Google Shape;116;p13"/>
          <p:cNvSpPr txBox="1"/>
          <p:nvPr>
            <p:ph idx="12" type="sldNum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/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/>
              <a:t>전체 시스템 아키텍처</a:t>
            </a:r>
            <a:endParaRPr/>
          </a:p>
        </p:txBody>
      </p:sp>
      <p:sp>
        <p:nvSpPr>
          <p:cNvPr id="227" name="Google Shape;227;p15"/>
          <p:cNvSpPr txBox="1"/>
          <p:nvPr>
            <p:ph idx="12" type="sldNum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384048" y="1005840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GAS 웹앱 2종 + 공용 라이브러리 + Cloud Run AI 서버 + 저장소 3종 — 전 구간 HTTPS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320040" y="1801368"/>
            <a:ext cx="137160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54864"/>
          <a:lstStyle/>
          <a:p>
            <a:pPr algn="ctr">
              <a:spcAft>
                <a:spcPts val="100"/>
              </a:spcAft>
            </a:pPr>
            <a:r>
              <a:rPr sz="1050" b="1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강사</a:t>
            </a:r>
          </a:p>
          <a:p>
            <a:pPr algn="ctr"/>
            <a:r>
              <a:rPr sz="7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조직 계정 로그인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320040" y="2898648"/>
            <a:ext cx="137160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54864"/>
          <a:lstStyle/>
          <a:p>
            <a:pPr algn="ctr">
              <a:spcAft>
                <a:spcPts val="100"/>
              </a:spcAft>
            </a:pPr>
            <a:r>
              <a:rPr sz="1050" b="1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수강생</a:t>
            </a:r>
          </a:p>
          <a:p>
            <a:pPr algn="ctr"/>
            <a:r>
              <a:rPr sz="7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로그인 불필요·익명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320040" y="4846320"/>
            <a:ext cx="137160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54864"/>
          <a:lstStyle/>
          <a:p>
            <a:pPr algn="ctr">
              <a:spcAft>
                <a:spcPts val="100"/>
              </a:spcAft>
            </a:pPr>
            <a:r>
              <a:rPr sz="1050" b="1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관리자</a:t>
            </a:r>
          </a:p>
          <a:p>
            <a:pPr algn="ctr"/>
            <a:r>
              <a:rPr sz="7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배포·설정 담당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2103120" y="1371600"/>
            <a:ext cx="4206240" cy="4434840"/>
          </a:xfrm>
          <a:prstGeom prst="roundRect">
            <a:avLst>
              <a:gd name="adj" fmla="val 3000"/>
            </a:avLst>
          </a:prstGeom>
          <a:solidFill>
            <a:srgbClr val="F3F8FC"/>
          </a:solidFill>
          <a:ln w="15240">
            <a:solidFill>
              <a:srgbClr val="378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2240280" y="144475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Google Apps Script (Workspace)</a:t>
            </a:r>
          </a:p>
        </p:txBody>
      </p:sp>
      <p:sp>
        <p:nvSpPr>
          <p:cNvPr id="234" name="Rounded Rectangle 233"/>
          <p:cNvSpPr/>
          <p:nvPr/>
        </p:nvSpPr>
        <p:spPr>
          <a:xfrm>
            <a:off x="2286000" y="1783080"/>
            <a:ext cx="384048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82296" tIns="54864"/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system-b-dashboard</a:t>
            </a:r>
          </a:p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강사 대시보드 · 조직 내부(DOMAIN) · 배포/설문 출제/AI 호출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2286000" y="2880360"/>
            <a:ext cx="329184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82296" tIns="54864"/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system-a-viewer</a:t>
            </a:r>
          </a:p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수강생 뷰어 · 익명 전체 공개 · ?k=키워드 접속</a:t>
            </a:r>
          </a:p>
        </p:txBody>
      </p:sp>
      <p:sp>
        <p:nvSpPr>
          <p:cNvPr id="236" name="Rounded Rectangle 235"/>
          <p:cNvSpPr/>
          <p:nvPr/>
        </p:nvSpPr>
        <p:spPr>
          <a:xfrm>
            <a:off x="2286000" y="4114800"/>
            <a:ext cx="384048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378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82296" tIns="54864"/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publish-engine  (라이브러리)</a:t>
            </a:r>
          </a:p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게시·목차 추출·DB 기록 공용 엔진 — 웹앱이 라이브러리로 호출</a:t>
            </a:r>
          </a:p>
        </p:txBody>
      </p:sp>
      <p:sp>
        <p:nvSpPr>
          <p:cNvPr id="237" name="Rounded Rectangle 236"/>
          <p:cNvSpPr/>
          <p:nvPr/>
        </p:nvSpPr>
        <p:spPr>
          <a:xfrm>
            <a:off x="2286000" y="5120640"/>
            <a:ext cx="3840480" cy="438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82296" tIns="54864"/>
          <a:lstStyle/>
          <a:p>
            <a:pPr algn="l"/>
            <a:r>
              <a:rPr sz="900" b="1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system-c-excel  </a:t>
            </a:r>
            <a:r>
              <a:rPr sz="800" b="0" i="0">
                <a:solidFill>
                  <a:srgbClr val="8A8A8A"/>
                </a:solidFill>
                <a:latin typeface="맑은 고딕"/>
                <a:ea typeface="맑은 고딕"/>
                <a:cs typeface="맑은 고딕"/>
              </a:rPr>
              <a:t>엑셀 데이터 분석 (구현 예정)</a:t>
            </a:r>
          </a:p>
        </p:txBody>
      </p:sp>
      <p:cxnSp>
        <p:nvCxnSpPr>
          <p:cNvPr id="238" name="Connector 237"/>
          <p:cNvCxnSpPr/>
          <p:nvPr/>
        </p:nvCxnSpPr>
        <p:spPr>
          <a:xfrm>
            <a:off x="5943600" y="2532888"/>
            <a:ext cx="0" cy="1581912"/>
          </a:xfrm>
          <a:prstGeom prst="line">
            <a:avLst/>
          </a:prstGeom>
          <a:ln w="15240">
            <a:solidFill>
              <a:srgbClr val="3786B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3657600" y="3630168"/>
            <a:ext cx="0" cy="484632"/>
          </a:xfrm>
          <a:prstGeom prst="line">
            <a:avLst/>
          </a:prstGeom>
          <a:ln w="15240">
            <a:solidFill>
              <a:srgbClr val="3786B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0" name="TextBox 239"/>
          <p:cNvSpPr txBox="1"/>
          <p:nvPr/>
        </p:nvSpPr>
        <p:spPr>
          <a:xfrm>
            <a:off x="3840480" y="3776472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라이브러리 호출</a:t>
            </a:r>
          </a:p>
        </p:txBody>
      </p:sp>
      <p:cxnSp>
        <p:nvCxnSpPr>
          <p:cNvPr id="241" name="Connector 240"/>
          <p:cNvCxnSpPr/>
          <p:nvPr/>
        </p:nvCxnSpPr>
        <p:spPr>
          <a:xfrm>
            <a:off x="1691640" y="2157984"/>
            <a:ext cx="59436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1691640" y="3255264"/>
            <a:ext cx="59436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1691640" y="5202936"/>
            <a:ext cx="411480" cy="100584"/>
          </a:xfrm>
          <a:prstGeom prst="line">
            <a:avLst/>
          </a:prstGeom>
          <a:ln w="12700">
            <a:solidFill>
              <a:srgbClr val="595959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4" name="Rounded Rectangle 243"/>
          <p:cNvSpPr/>
          <p:nvPr/>
        </p:nvSpPr>
        <p:spPr>
          <a:xfrm>
            <a:off x="6720840" y="1371600"/>
            <a:ext cx="2514600" cy="2606040"/>
          </a:xfrm>
          <a:prstGeom prst="roundRect">
            <a:avLst>
              <a:gd name="adj" fmla="val 4000"/>
            </a:avLst>
          </a:prstGeom>
          <a:solidFill>
            <a:srgbClr val="FDF4EE"/>
          </a:solidFill>
          <a:ln w="1524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82296" tIns="91440"/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ai-server</a:t>
            </a:r>
          </a:p>
          <a:p>
            <a:pPr algn="l">
              <a:spcAft>
                <a:spcPts val="400"/>
              </a:spcAft>
            </a:pPr>
            <a:r>
              <a:rPr sz="850" b="1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Cloud Run · Python · FastAPI</a:t>
            </a:r>
          </a:p>
          <a:p>
            <a:pPr algn="l">
              <a:spcAft>
                <a:spcPts val="100"/>
              </a:spcAft>
            </a:pPr>
            <a:r>
              <a:rPr sz="8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POST /exam-questions</a:t>
            </a:r>
          </a:p>
          <a:p>
            <a:pPr algn="l">
              <a:spcAft>
                <a:spcPts val="100"/>
              </a:spcAft>
            </a:pPr>
            <a:r>
              <a:rPr sz="8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POST /opinion-summary</a:t>
            </a:r>
          </a:p>
          <a:p>
            <a:pPr algn="l">
              <a:spcAft>
                <a:spcPts val="100"/>
              </a:spcAft>
            </a:pPr>
            <a:r>
              <a:rPr sz="8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POST /virtual-questions</a:t>
            </a:r>
          </a:p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POST /lecture-evaluation</a:t>
            </a:r>
          </a:p>
          <a:p>
            <a:pPr algn="l"/>
            <a:r>
              <a:rPr sz="85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LangChain · LangGraph 체인</a:t>
            </a:r>
          </a:p>
        </p:txBody>
      </p:sp>
      <p:sp>
        <p:nvSpPr>
          <p:cNvPr id="245" name="Rounded Rectangle 244"/>
          <p:cNvSpPr/>
          <p:nvPr/>
        </p:nvSpPr>
        <p:spPr>
          <a:xfrm>
            <a:off x="6720840" y="5029200"/>
            <a:ext cx="251460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82296" tIns="54864"/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OpenAI API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GPT-4o · Responses API 웹검색
(web_search_preview)</a:t>
            </a:r>
          </a:p>
        </p:txBody>
      </p:sp>
      <p:sp>
        <p:nvSpPr>
          <p:cNvPr id="246" name="Rounded Rectangle 245"/>
          <p:cNvSpPr/>
          <p:nvPr/>
        </p:nvSpPr>
        <p:spPr>
          <a:xfrm>
            <a:off x="9555480" y="1371600"/>
            <a:ext cx="2331720" cy="4526280"/>
          </a:xfrm>
          <a:prstGeom prst="roundRect">
            <a:avLst>
              <a:gd name="adj" fmla="val 3000"/>
            </a:avLst>
          </a:prstGeom>
          <a:solidFill>
            <a:srgbClr val="F2F9F5"/>
          </a:solidFill>
          <a:ln w="15240">
            <a:solidFill>
              <a:srgbClr val="3E9B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9692640" y="14630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E9B6F"/>
                </a:solidFill>
                <a:latin typeface="맑은 고딕"/>
                <a:ea typeface="맑은 고딕"/>
                <a:cs typeface="맑은 고딕"/>
              </a:rPr>
              <a:t>데이터 저장소 (3원화)</a:t>
            </a:r>
          </a:p>
        </p:txBody>
      </p:sp>
      <p:sp>
        <p:nvSpPr>
          <p:cNvPr id="248" name="Rounded Rectangle 247"/>
          <p:cNvSpPr/>
          <p:nvPr/>
        </p:nvSpPr>
        <p:spPr>
          <a:xfrm>
            <a:off x="9692640" y="1828800"/>
            <a:ext cx="2057400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E9B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Google Sheets</a:t>
            </a:r>
          </a:p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강의목록 — 강의 메타데이터</a:t>
            </a:r>
          </a:p>
        </p:txBody>
      </p:sp>
      <p:sp>
        <p:nvSpPr>
          <p:cNvPr id="249" name="Rounded Rectangle 248"/>
          <p:cNvSpPr/>
          <p:nvPr/>
        </p:nvSpPr>
        <p:spPr>
          <a:xfrm>
            <a:off x="9692640" y="2651760"/>
            <a:ext cx="205740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E9B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Google Drive</a:t>
            </a:r>
          </a:p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원본 슬라이드 · 목차 JSON
(키워드.json)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9692640" y="3657600"/>
            <a:ext cx="205740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E9B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/>
          <a:lstStyle/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Supabase (PostgreSQL)</a:t>
            </a:r>
          </a:p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실시간 설문 라이브/영구 ·
슬라이드 본문 · 가상질문 ·
강의자료 평가  (RLS + RPC)</a:t>
            </a:r>
          </a:p>
        </p:txBody>
      </p:sp>
      <p:cxnSp>
        <p:nvCxnSpPr>
          <p:cNvPr id="251" name="Connector 250"/>
          <p:cNvCxnSpPr/>
          <p:nvPr/>
        </p:nvCxnSpPr>
        <p:spPr>
          <a:xfrm>
            <a:off x="6126480" y="2157984"/>
            <a:ext cx="594360" cy="0"/>
          </a:xfrm>
          <a:prstGeom prst="line">
            <a:avLst/>
          </a:prstGeom>
          <a:ln w="22225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2" name="Rounded Rectangle 251"/>
          <p:cNvSpPr/>
          <p:nvPr/>
        </p:nvSpPr>
        <p:spPr>
          <a:xfrm>
            <a:off x="6089904" y="1847088"/>
            <a:ext cx="658368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>
              <a:lnSpc>
                <a:spcPct val="100000"/>
              </a:lnSpc>
            </a:pPr>
            <a:r>
              <a:rPr sz="650"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HTTPS
X-API-Key</a:t>
            </a:r>
          </a:p>
        </p:txBody>
      </p:sp>
      <p:cxnSp>
        <p:nvCxnSpPr>
          <p:cNvPr id="253" name="Connector 252"/>
          <p:cNvCxnSpPr/>
          <p:nvPr/>
        </p:nvCxnSpPr>
        <p:spPr>
          <a:xfrm>
            <a:off x="6126480" y="4489704"/>
            <a:ext cx="3429000" cy="0"/>
          </a:xfrm>
          <a:prstGeom prst="line">
            <a:avLst/>
          </a:prstGeom>
          <a:ln w="22225">
            <a:solidFill>
              <a:srgbClr val="3E9B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4" name="Rounded Rectangle 253"/>
          <p:cNvSpPr/>
          <p:nvPr/>
        </p:nvSpPr>
        <p:spPr>
          <a:xfrm>
            <a:off x="6446520" y="4315968"/>
            <a:ext cx="2148840" cy="34747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3E9B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3E9B6F"/>
                </a:solidFill>
                <a:latin typeface="맑은 고딕"/>
                <a:ea typeface="맑은 고딕"/>
                <a:cs typeface="맑은 고딕"/>
              </a:rPr>
              <a:t>Drive · Sheets · Supabase 기록/조회</a:t>
            </a:r>
          </a:p>
        </p:txBody>
      </p:sp>
      <p:cxnSp>
        <p:nvCxnSpPr>
          <p:cNvPr id="255" name="Connector 254"/>
          <p:cNvCxnSpPr/>
          <p:nvPr/>
        </p:nvCxnSpPr>
        <p:spPr>
          <a:xfrm>
            <a:off x="9235440" y="3108960"/>
            <a:ext cx="320040" cy="457200"/>
          </a:xfrm>
          <a:prstGeom prst="line">
            <a:avLst/>
          </a:prstGeom>
          <a:ln w="19050">
            <a:solidFill>
              <a:srgbClr val="3E9B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6" name="Rounded Rectangle 255"/>
          <p:cNvSpPr/>
          <p:nvPr/>
        </p:nvSpPr>
        <p:spPr>
          <a:xfrm>
            <a:off x="8229600" y="2670048"/>
            <a:ext cx="128016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3E9B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3E9B6F"/>
                </a:solidFill>
                <a:latin typeface="맑은 고딕"/>
                <a:ea typeface="맑은 고딕"/>
                <a:cs typeface="맑은 고딕"/>
              </a:rPr>
              <a:t>service_role REST</a:t>
            </a:r>
          </a:p>
        </p:txBody>
      </p:sp>
      <p:cxnSp>
        <p:nvCxnSpPr>
          <p:cNvPr id="257" name="Connector 256"/>
          <p:cNvCxnSpPr/>
          <p:nvPr/>
        </p:nvCxnSpPr>
        <p:spPr>
          <a:xfrm>
            <a:off x="7772400" y="3977639"/>
            <a:ext cx="0" cy="1051561"/>
          </a:xfrm>
          <a:prstGeom prst="line">
            <a:avLst/>
          </a:prstGeom>
          <a:ln w="19050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Rounded Rectangle 257"/>
          <p:cNvSpPr/>
          <p:nvPr/>
        </p:nvSpPr>
        <p:spPr>
          <a:xfrm>
            <a:off x="7242048" y="4690872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GPT-4o 호출</a:t>
            </a:r>
          </a:p>
        </p:txBody>
      </p:sp>
      <p:sp>
        <p:nvSpPr>
          <p:cNvPr id="259" name="Rounded Rectangle 258"/>
          <p:cNvSpPr/>
          <p:nvPr/>
        </p:nvSpPr>
        <p:spPr>
          <a:xfrm>
            <a:off x="320040" y="6053328"/>
            <a:ext cx="11567160" cy="457200"/>
          </a:xfrm>
          <a:prstGeom prst="roundRect">
            <a:avLst>
              <a:gd name="adj" fmla="val 10000"/>
            </a:avLst>
          </a:prstGeom>
          <a:solidFill>
            <a:srgbClr val="EF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54864"/>
          <a:lstStyle/>
          <a:p>
            <a:pPr algn="ctr"/>
            <a:r>
              <a:rPr sz="9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핵심 흐름   </a:t>
            </a:r>
            <a:r>
              <a:rPr sz="9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배포: 강사 → 대시보드 → publish-engine → 저장소 3종 → 뷰어 URL 공유       </a:t>
            </a:r>
            <a:r>
              <a:rPr sz="9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AI: 대시보드 → ai-server → Supabase 조회 → GPT-4o → 결과 표시 + 캐시 저장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/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/>
              <a:t>데이터 저장 구조 — 3원화 전략</a:t>
            </a:r>
            <a:endParaRPr/>
          </a:p>
        </p:txBody>
      </p:sp>
      <p:sp>
        <p:nvSpPr>
          <p:cNvPr id="227" name="Google Shape;227;p15"/>
          <p:cNvSpPr txBox="1"/>
          <p:nvPr>
            <p:ph idx="12" type="sldNum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384048" y="1005840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데이터의 성격에 따라 저장소를 분리 — 투명성(Sheets) · 응답 속도(Drive JSON) · 트랜잭션(Supabase)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384048" y="1481328"/>
            <a:ext cx="3675887" cy="658368"/>
          </a:xfrm>
          <a:prstGeom prst="roundRect">
            <a:avLst>
              <a:gd name="adj" fmla="val 8000"/>
            </a:avLst>
          </a:prstGeom>
          <a:solidFill>
            <a:srgbClr val="3E9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54864"/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Google Sheets</a:t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강의목록 시트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384048" y="2231136"/>
            <a:ext cx="3675887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18872" tIns="73152"/>
          <a:lstStyle/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000" b="1" i="0">
                <a:solidFill>
                  <a:srgbClr val="3E9B6F"/>
                </a:solidFill>
                <a:latin typeface="맑은 고딕"/>
                <a:ea typeface="맑은 고딕"/>
                <a:cs typeface="맑은 고딕"/>
              </a:rPr>
              <a:t>저장 데이터</a:t>
            </a:r>
          </a:p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교안 메타 — 키워드(고유 키) · 제목 · 슬라이드ID · 게시URL · 목차JSON 링크 · 최종수정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000" b="1" i="0">
                <a:solidFill>
                  <a:srgbClr val="3E9B6F"/>
                </a:solidFill>
                <a:latin typeface="맑은 고딕"/>
                <a:ea typeface="맑은 고딕"/>
                <a:cs typeface="맑은 고딕"/>
              </a:rPr>
              <a:t>성격</a:t>
            </a:r>
          </a:p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키워드 기준 행 단위 upsert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000" b="1" i="0">
                <a:solidFill>
                  <a:srgbClr val="3E9B6F"/>
                </a:solidFill>
                <a:latin typeface="맑은 고딕"/>
                <a:ea typeface="맑은 고딕"/>
                <a:cs typeface="맑은 고딕"/>
              </a:rPr>
              <a:t>선택 이유</a:t>
            </a:r>
          </a:p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강사가 직접 열어볼 수 있는 투명한 저장소 — 별도 DB 없이 메타 관리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4251960" y="1481328"/>
            <a:ext cx="3675887" cy="658368"/>
          </a:xfrm>
          <a:prstGeom prst="roundRect">
            <a:avLst>
              <a:gd name="adj" fmla="val 8000"/>
            </a:avLst>
          </a:prstGeom>
          <a:solidFill>
            <a:srgbClr val="378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54864"/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Google Drive</a:t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목차데이터 폴더 · 키워드.json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4251960" y="2231136"/>
            <a:ext cx="3675887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18872" tIns="73152"/>
          <a:lstStyle/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00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저장 데이터</a:t>
            </a:r>
          </a:p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목차(TOC) 스냅샷 — 뷰어가 읽는 유일한 데이터 소스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00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성격</a:t>
            </a:r>
          </a:p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강의 교체 시 덮어쓰기(스냅샷) — 뷰어 URL은 영구 고정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00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선택 이유</a:t>
            </a:r>
          </a:p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파일 1개 읽기로 뷰어 렌더링 완결 — 단순하고 빠른 데이터 통로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8119872" y="1481328"/>
            <a:ext cx="3675887" cy="658368"/>
          </a:xfrm>
          <a:prstGeom prst="roundRect">
            <a:avLst>
              <a:gd name="adj" fmla="val 8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54864"/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Supabase (PostgreSQL)</a:t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PostgREST REST API</a:t>
            </a:r>
          </a:p>
        </p:txBody>
      </p:sp>
      <p:sp>
        <p:nvSpPr>
          <p:cNvPr id="234" name="Rounded Rectangle 233"/>
          <p:cNvSpPr/>
          <p:nvPr/>
        </p:nvSpPr>
        <p:spPr>
          <a:xfrm>
            <a:off x="8119872" y="2231136"/>
            <a:ext cx="3675887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18872" tIns="73152"/>
          <a:lstStyle/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000"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저장 데이터</a:t>
            </a:r>
          </a:p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실시간 설문(라이브+영구) · 슬라이드 본문 · 가상질문 페르소나/결과 · 강의자료 평가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000"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성격</a:t>
            </a:r>
          </a:p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AI 기능의 근거 데이터이자 결과 캐시 — RPC 2종으로 경쟁상태 원자화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000"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선택 이유</a:t>
            </a:r>
          </a:p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GAS·Python 양쪽에서 REST로 동일 접근 · RLS 내장 · 무료 티어 시작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384048" y="5760720"/>
            <a:ext cx="11411712" cy="621792"/>
          </a:xfrm>
          <a:prstGeom prst="roundRect">
            <a:avLst>
              <a:gd name="adj" fmla="val 10000"/>
            </a:avLst>
          </a:prstGeom>
          <a:solidFill>
            <a:srgbClr val="EF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54864"/>
          <a:lstStyle/>
          <a:p>
            <a:pPr algn="ctr"/>
            <a:r>
              <a:rPr sz="10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설계 포인트   </a:t>
            </a:r>
            <a:r>
              <a:rPr sz="10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서로 다른 GAS 배포(뷰어·대시보드) 간에는 CacheService 공유가 불가 → 진행 중 상태는 Supabase를 공유 상태 저장소로 사용해 간접 통신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/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/>
              <a:t>핵심 워크플로 ① — 강의 배포</a:t>
            </a:r>
            <a:endParaRPr/>
          </a:p>
        </p:txBody>
      </p:sp>
      <p:sp>
        <p:nvSpPr>
          <p:cNvPr id="227" name="Google Shape;227;p15"/>
          <p:cNvSpPr txBox="1"/>
          <p:nvPr>
            <p:ph idx="12" type="sldNum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384048" y="1005840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강사의 [배포] 클릭 한 번으로 웹게시 준비가 완료 — publishLecture() 내부 7단계 자동 처리</a:t>
            </a:r>
          </a:p>
        </p:txBody>
      </p:sp>
      <p:sp>
        <p:nvSpPr>
          <p:cNvPr id="229" name="Chevron 228"/>
          <p:cNvSpPr/>
          <p:nvPr/>
        </p:nvSpPr>
        <p:spPr>
          <a:xfrm>
            <a:off x="384048" y="1463040"/>
            <a:ext cx="2743200" cy="1051560"/>
          </a:xfrm>
          <a:prstGeom prst="chevron">
            <a:avLst/>
          </a:prstGeom>
          <a:solidFill>
            <a:srgbClr val="D9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92608" rIns="82296" tIns="91440"/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1. 강사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PPT를 공유 드라이브에 업로드 →
"Google Slides로 저장"</a:t>
            </a:r>
          </a:p>
        </p:txBody>
      </p:sp>
      <p:sp>
        <p:nvSpPr>
          <p:cNvPr id="230" name="Chevron 229"/>
          <p:cNvSpPr/>
          <p:nvPr/>
        </p:nvSpPr>
        <p:spPr>
          <a:xfrm>
            <a:off x="3255264" y="1463040"/>
            <a:ext cx="2743200" cy="1051560"/>
          </a:xfrm>
          <a:prstGeom prst="chevron">
            <a:avLst/>
          </a:prstGeom>
          <a:solidFill>
            <a:srgbClr val="D9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92608" rIns="82296" tIns="91440"/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2. 대시보드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키워드·제목·슬라이드 URL 입력
→ [배포] 클릭</a:t>
            </a:r>
          </a:p>
        </p:txBody>
      </p:sp>
      <p:sp>
        <p:nvSpPr>
          <p:cNvPr id="231" name="Chevron 230"/>
          <p:cNvSpPr/>
          <p:nvPr/>
        </p:nvSpPr>
        <p:spPr>
          <a:xfrm>
            <a:off x="6126480" y="1463040"/>
            <a:ext cx="2743200" cy="1051560"/>
          </a:xfrm>
          <a:prstGeom prst="chevron">
            <a:avLst/>
          </a:prstGeom>
          <a:solidFill>
            <a:srgbClr val="378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92608" rIns="82296" tIns="91440"/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publish-engine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publishLecture() 자동 처리
(아래 7단계)</a:t>
            </a:r>
          </a:p>
        </p:txBody>
      </p:sp>
      <p:sp>
        <p:nvSpPr>
          <p:cNvPr id="232" name="Chevron 231"/>
          <p:cNvSpPr/>
          <p:nvPr/>
        </p:nvSpPr>
        <p:spPr>
          <a:xfrm>
            <a:off x="8997696" y="1463040"/>
            <a:ext cx="2743200" cy="1051560"/>
          </a:xfrm>
          <a:prstGeom prst="chevron">
            <a:avLst/>
          </a:prstGeom>
          <a:solidFill>
            <a:srgbClr val="D9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92608" rIns="82296" tIns="91440"/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4. 공유·열람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뷰어 URL(?k=키워드) 공유 →
수강생 로그인 없이 열람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384048" y="2743200"/>
            <a:ext cx="11411712" cy="1965960"/>
          </a:xfrm>
          <a:prstGeom prst="roundRect">
            <a:avLst>
              <a:gd name="adj" fmla="val 4000"/>
            </a:avLst>
          </a:prstGeom>
          <a:solidFill>
            <a:srgbClr val="F3F8FC"/>
          </a:solidFill>
          <a:ln w="12700">
            <a:solidFill>
              <a:srgbClr val="378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566928" y="28529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publishLecture() 내부 처리 순서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566928" y="3200400"/>
            <a:ext cx="1444752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45720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1</a:t>
            </a:r>
          </a:p>
          <a:p>
            <a:pPr algn="l">
              <a:lnSpc>
                <a:spcPct val="105000"/>
              </a:lnSpc>
            </a:pPr>
            <a:r>
              <a:rPr sz="76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슬라이드 ID 추출
(URL 정규식)</a:t>
            </a:r>
          </a:p>
        </p:txBody>
      </p:sp>
      <p:cxnSp>
        <p:nvCxnSpPr>
          <p:cNvPr id="236" name="Connector 235"/>
          <p:cNvCxnSpPr/>
          <p:nvPr/>
        </p:nvCxnSpPr>
        <p:spPr>
          <a:xfrm>
            <a:off x="2011680" y="3849624"/>
            <a:ext cx="155448" cy="0"/>
          </a:xfrm>
          <a:prstGeom prst="line">
            <a:avLst/>
          </a:prstGeom>
          <a:ln w="15240">
            <a:solidFill>
              <a:srgbClr val="3786B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Rounded Rectangle 236"/>
          <p:cNvSpPr/>
          <p:nvPr/>
        </p:nvSpPr>
        <p:spPr>
          <a:xfrm>
            <a:off x="2167128" y="3200400"/>
            <a:ext cx="1444752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45720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2</a:t>
            </a:r>
          </a:p>
          <a:p>
            <a:pPr algn="l">
              <a:lnSpc>
                <a:spcPct val="105000"/>
              </a:lnSpc>
            </a:pPr>
            <a:r>
              <a:rPr sz="76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mimeType 검증
(PPT 원본이면
안내 에러)</a:t>
            </a:r>
          </a:p>
        </p:txBody>
      </p:sp>
      <p:cxnSp>
        <p:nvCxnSpPr>
          <p:cNvPr id="238" name="Connector 237"/>
          <p:cNvCxnSpPr/>
          <p:nvPr/>
        </p:nvCxnSpPr>
        <p:spPr>
          <a:xfrm>
            <a:off x="3611880" y="3849624"/>
            <a:ext cx="155448" cy="0"/>
          </a:xfrm>
          <a:prstGeom prst="line">
            <a:avLst/>
          </a:prstGeom>
          <a:ln w="15240">
            <a:solidFill>
              <a:srgbClr val="3786B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Rounded Rectangle 238"/>
          <p:cNvSpPr/>
          <p:nvPr/>
        </p:nvSpPr>
        <p:spPr>
          <a:xfrm>
            <a:off x="3767328" y="3200400"/>
            <a:ext cx="1444752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45720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3</a:t>
            </a:r>
          </a:p>
          <a:p>
            <a:pPr algn="l">
              <a:lnSpc>
                <a:spcPct val="105000"/>
              </a:lnSpc>
            </a:pPr>
            <a:r>
              <a:rPr sz="76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공유범위 변경
"링크 보기"
(DriveApp)</a:t>
            </a:r>
          </a:p>
        </p:txBody>
      </p:sp>
      <p:cxnSp>
        <p:nvCxnSpPr>
          <p:cNvPr id="240" name="Connector 239"/>
          <p:cNvCxnSpPr/>
          <p:nvPr/>
        </p:nvCxnSpPr>
        <p:spPr>
          <a:xfrm>
            <a:off x="5212080" y="3849624"/>
            <a:ext cx="155448" cy="0"/>
          </a:xfrm>
          <a:prstGeom prst="line">
            <a:avLst/>
          </a:prstGeom>
          <a:ln w="15240">
            <a:solidFill>
              <a:srgbClr val="3786B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1" name="Rounded Rectangle 240"/>
          <p:cNvSpPr/>
          <p:nvPr/>
        </p:nvSpPr>
        <p:spPr>
          <a:xfrm>
            <a:off x="5367528" y="3200400"/>
            <a:ext cx="1444752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45720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4</a:t>
            </a:r>
          </a:p>
          <a:p>
            <a:pPr algn="l">
              <a:lnSpc>
                <a:spcPct val="105000"/>
              </a:lnSpc>
            </a:pPr>
            <a:r>
              <a:rPr sz="76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목차 추출
제목/첫 텍스트
(SlidesApp)</a:t>
            </a:r>
          </a:p>
        </p:txBody>
      </p:sp>
      <p:cxnSp>
        <p:nvCxnSpPr>
          <p:cNvPr id="242" name="Connector 241"/>
          <p:cNvCxnSpPr/>
          <p:nvPr/>
        </p:nvCxnSpPr>
        <p:spPr>
          <a:xfrm>
            <a:off x="6812280" y="3849624"/>
            <a:ext cx="155448" cy="0"/>
          </a:xfrm>
          <a:prstGeom prst="line">
            <a:avLst/>
          </a:prstGeom>
          <a:ln w="15240">
            <a:solidFill>
              <a:srgbClr val="3786B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3" name="Rounded Rectangle 242"/>
          <p:cNvSpPr/>
          <p:nvPr/>
        </p:nvSpPr>
        <p:spPr>
          <a:xfrm>
            <a:off x="6967728" y="3200400"/>
            <a:ext cx="1444752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45720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5</a:t>
            </a:r>
          </a:p>
          <a:p>
            <a:pPr algn="l">
              <a:lnSpc>
                <a:spcPct val="105000"/>
              </a:lnSpc>
            </a:pPr>
            <a:r>
              <a:rPr sz="76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{키워드}.json
Drive 저장
(덮어쓰기)</a:t>
            </a:r>
          </a:p>
        </p:txBody>
      </p:sp>
      <p:cxnSp>
        <p:nvCxnSpPr>
          <p:cNvPr id="244" name="Connector 243"/>
          <p:cNvCxnSpPr/>
          <p:nvPr/>
        </p:nvCxnSpPr>
        <p:spPr>
          <a:xfrm>
            <a:off x="8412480" y="3849624"/>
            <a:ext cx="155448" cy="0"/>
          </a:xfrm>
          <a:prstGeom prst="line">
            <a:avLst/>
          </a:prstGeom>
          <a:ln w="15240">
            <a:solidFill>
              <a:srgbClr val="3786B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5" name="Rounded Rectangle 244"/>
          <p:cNvSpPr/>
          <p:nvPr/>
        </p:nvSpPr>
        <p:spPr>
          <a:xfrm>
            <a:off x="8567928" y="3200400"/>
            <a:ext cx="1444752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45720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6</a:t>
            </a:r>
          </a:p>
          <a:p>
            <a:pPr algn="l">
              <a:lnSpc>
                <a:spcPct val="105000"/>
              </a:lnSpc>
            </a:pPr>
            <a:r>
              <a:rPr sz="76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강의목록 시트
키워드 기준
upsert</a:t>
            </a:r>
          </a:p>
        </p:txBody>
      </p:sp>
      <p:cxnSp>
        <p:nvCxnSpPr>
          <p:cNvPr id="246" name="Connector 245"/>
          <p:cNvCxnSpPr/>
          <p:nvPr/>
        </p:nvCxnSpPr>
        <p:spPr>
          <a:xfrm>
            <a:off x="10012680" y="3849624"/>
            <a:ext cx="155448" cy="0"/>
          </a:xfrm>
          <a:prstGeom prst="line">
            <a:avLst/>
          </a:prstGeom>
          <a:ln w="15240">
            <a:solidFill>
              <a:srgbClr val="3786B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Rounded Rectangle 246"/>
          <p:cNvSpPr/>
          <p:nvPr/>
        </p:nvSpPr>
        <p:spPr>
          <a:xfrm>
            <a:off x="10168128" y="3200400"/>
            <a:ext cx="1444752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45720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7</a:t>
            </a:r>
          </a:p>
          <a:p>
            <a:pPr algn="l">
              <a:lnSpc>
                <a:spcPct val="105000"/>
              </a:lnSpc>
            </a:pPr>
            <a:r>
              <a:rPr sz="76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슬라이드 본문
Supabase 저장
(AI 근거 데이터)</a:t>
            </a:r>
          </a:p>
        </p:txBody>
      </p:sp>
      <p:sp>
        <p:nvSpPr>
          <p:cNvPr id="248" name="Rounded Rectangle 247"/>
          <p:cNvSpPr/>
          <p:nvPr/>
        </p:nvSpPr>
        <p:spPr>
          <a:xfrm>
            <a:off x="384048" y="4983480"/>
            <a:ext cx="3675887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82296" tIns="91440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URL 영구 고정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같은 키워드 재배포 시 뷰어 URL은 그대로, 내용만 갱신 — 학생에게 다시 공유할 필요 없음</a:t>
            </a:r>
          </a:p>
        </p:txBody>
      </p:sp>
      <p:sp>
        <p:nvSpPr>
          <p:cNvPr id="249" name="Rounded Rectangle 248"/>
          <p:cNvSpPr/>
          <p:nvPr/>
        </p:nvSpPr>
        <p:spPr>
          <a:xfrm>
            <a:off x="4251960" y="4983480"/>
            <a:ext cx="3675887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82296" tIns="91440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경량 수정 경로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updateLectureTitle() — 슬라이드 재추출 없이 제목만 갱신하는 별도 경로 제공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8119872" y="4983480"/>
            <a:ext cx="3675887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82296" tIns="91440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안전한 배포 취소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unpublishLecture() — 같은 슬라이드를 다른 키워드가 참조 중이면 공유 설정은 유지, 관련 데이터만 정리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/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/>
              <a:t>핵심 워크플로 ② — 실시간 설문</a:t>
            </a:r>
            <a:endParaRPr/>
          </a:p>
        </p:txBody>
      </p:sp>
      <p:sp>
        <p:nvSpPr>
          <p:cNvPr id="227" name="Google Shape;227;p15"/>
          <p:cNvSpPr txBox="1"/>
          <p:nvPr>
            <p:ph idx="12" type="sldNum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384048" y="1005840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서로 다른 GAS 배포(대시보드 ↔ 뷰어)가 Supabase를 공유 상태 저장소로 사용해 실시간 통신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384048" y="1508760"/>
            <a:ext cx="306324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82296" tIns="91440"/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강사 — 대시보드 (system-b)</a:t>
            </a:r>
          </a:p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① 문제 출제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88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유형(객관식/단답형/의견형)·질문·선택지·정답 입력 → [학생들에게 공개]</a:t>
            </a:r>
          </a:p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② 고유키 안내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88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영소문자+숫자 4자리 (o·l·0·1 제외) 화면 표시</a:t>
            </a:r>
          </a:p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③ [설문종료] → 집계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88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객관식/단답형: GAS 직접 채점 · 정답률·분포
의견형: ai-server AI 요약(실패 시 원문)</a:t>
            </a:r>
          </a:p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④ 저장 여부 선택</a:t>
            </a:r>
          </a:p>
          <a:p>
            <a:pPr algn="l">
              <a:lnSpc>
                <a:spcPct val="110000"/>
              </a:lnSpc>
            </a:pPr>
            <a:r>
              <a:rPr sz="88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[설문결과 저장] 또는 [저장하지 않고 종료]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4526280" y="1508760"/>
            <a:ext cx="3154680" cy="3200400"/>
          </a:xfrm>
          <a:prstGeom prst="roundRect">
            <a:avLst>
              <a:gd name="adj" fmla="val 5000"/>
            </a:avLst>
          </a:prstGeom>
          <a:solidFill>
            <a:srgbClr val="FDF4EE"/>
          </a:solidFill>
          <a:ln w="1524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82296" tIns="91440"/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Supabase — 공유 상태 저장소</a:t>
            </a:r>
          </a:p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survey_temp_questions / answers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85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진행 중 라이브 데이터 (24시간 방치 설문 자동 정리)</a:t>
            </a:r>
          </a:p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RPC  submit_survey_answer()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85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문제가 active일 때만 원자적 INSERT — 종료 순간의 경쟁상태 방지</a:t>
            </a:r>
          </a:p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RPC  finalize_survey()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85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결과 이관 + 작업 테이블 정리를 한 트랜잭션으로 — "남은 행 = 미완료분" 불변식 보장</a:t>
            </a:r>
          </a:p>
          <a:p>
            <a:pPr algn="l"/>
            <a:r>
              <a:rPr sz="9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survey_results — 영구 저장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8759952" y="1508760"/>
            <a:ext cx="306324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82296" tIns="91440"/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학생 — 뷰어 (system-a)</a:t>
            </a:r>
          </a:p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① [답변하기] 클릭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88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뷰어 화면에서 고유키 입력</a:t>
            </a:r>
          </a:p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② 문제 표시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88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access_key + status=active 조건으로 Supabase에서 조회</a:t>
            </a:r>
          </a:p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③ 답변 제출</a:t>
            </a:r>
          </a:p>
          <a:p>
            <a:pPr algn="l">
              <a:lnSpc>
                <a:spcPct val="110000"/>
              </a:lnSpc>
            </a:pPr>
            <a:r>
              <a:rPr sz="88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RPC 호출로 원자적 제출 — 강사가 그 순간 종료해도 안전</a:t>
            </a:r>
          </a:p>
        </p:txBody>
      </p:sp>
      <p:cxnSp>
        <p:nvCxnSpPr>
          <p:cNvPr id="232" name="Connector 231"/>
          <p:cNvCxnSpPr/>
          <p:nvPr/>
        </p:nvCxnSpPr>
        <p:spPr>
          <a:xfrm>
            <a:off x="3447288" y="2148840"/>
            <a:ext cx="1078992" cy="0"/>
          </a:xfrm>
          <a:prstGeom prst="line">
            <a:avLst/>
          </a:prstGeom>
          <a:ln w="19050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TextBox 232"/>
          <p:cNvSpPr txBox="1"/>
          <p:nvPr/>
        </p:nvSpPr>
        <p:spPr>
          <a:xfrm>
            <a:off x="3465576" y="1874519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출제 등록</a:t>
            </a:r>
          </a:p>
        </p:txBody>
      </p:sp>
      <p:cxnSp>
        <p:nvCxnSpPr>
          <p:cNvPr id="234" name="Connector 233"/>
          <p:cNvCxnSpPr/>
          <p:nvPr/>
        </p:nvCxnSpPr>
        <p:spPr>
          <a:xfrm flipH="1">
            <a:off x="3447288" y="4160520"/>
            <a:ext cx="1078992" cy="0"/>
          </a:xfrm>
          <a:prstGeom prst="line">
            <a:avLst/>
          </a:prstGeom>
          <a:ln w="19050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5" name="TextBox 234"/>
          <p:cNvSpPr txBox="1"/>
          <p:nvPr/>
        </p:nvSpPr>
        <p:spPr>
          <a:xfrm>
            <a:off x="3465576" y="422452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집계·결과</a:t>
            </a:r>
          </a:p>
        </p:txBody>
      </p:sp>
      <p:cxnSp>
        <p:nvCxnSpPr>
          <p:cNvPr id="236" name="Connector 235"/>
          <p:cNvCxnSpPr/>
          <p:nvPr/>
        </p:nvCxnSpPr>
        <p:spPr>
          <a:xfrm flipH="1">
            <a:off x="7680960" y="2148840"/>
            <a:ext cx="1078992" cy="0"/>
          </a:xfrm>
          <a:prstGeom prst="line">
            <a:avLst/>
          </a:prstGeom>
          <a:ln w="19050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TextBox 236"/>
          <p:cNvSpPr txBox="1"/>
          <p:nvPr/>
        </p:nvSpPr>
        <p:spPr>
          <a:xfrm>
            <a:off x="7726679" y="1874519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설문 조회</a:t>
            </a:r>
          </a:p>
        </p:txBody>
      </p:sp>
      <p:cxnSp>
        <p:nvCxnSpPr>
          <p:cNvPr id="238" name="Connector 237"/>
          <p:cNvCxnSpPr/>
          <p:nvPr/>
        </p:nvCxnSpPr>
        <p:spPr>
          <a:xfrm flipH="1">
            <a:off x="7680960" y="4160520"/>
            <a:ext cx="1078992" cy="0"/>
          </a:xfrm>
          <a:prstGeom prst="line">
            <a:avLst/>
          </a:prstGeom>
          <a:ln w="19050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TextBox 238"/>
          <p:cNvSpPr txBox="1"/>
          <p:nvPr/>
        </p:nvSpPr>
        <p:spPr>
          <a:xfrm>
            <a:off x="7726679" y="4224528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답변 제출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384048" y="5029200"/>
            <a:ext cx="5577840" cy="1325880"/>
          </a:xfrm>
          <a:prstGeom prst="roundRect">
            <a:avLst>
              <a:gd name="adj" fmla="val 6000"/>
            </a:avLst>
          </a:prstGeom>
          <a:solidFill>
            <a:srgbClr val="EF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82296" tIns="109728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문제 — 배포 간 상태 공유 불가</a:t>
            </a:r>
          </a:p>
          <a:p>
            <a:pPr algn="l">
              <a:lnSpc>
                <a:spcPct val="115000"/>
              </a:lnSpc>
            </a:pPr>
            <a:r>
              <a:rPr sz="93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대시보드와 뷰어는 서로 다른 GAS 배포라 CacheService를 공유할 수 없음 → 진행 중 설문 상태를 주고받을 방법이 필요</a:t>
            </a:r>
          </a:p>
        </p:txBody>
      </p:sp>
      <p:sp>
        <p:nvSpPr>
          <p:cNvPr id="241" name="Rounded Rectangle 240"/>
          <p:cNvSpPr/>
          <p:nvPr/>
        </p:nvSpPr>
        <p:spPr>
          <a:xfrm>
            <a:off x="6236208" y="5029200"/>
            <a:ext cx="5577840" cy="1325880"/>
          </a:xfrm>
          <a:prstGeom prst="roundRect">
            <a:avLst>
              <a:gd name="adj" fmla="val 6000"/>
            </a:avLst>
          </a:prstGeom>
          <a:solidFill>
            <a:srgbClr val="EF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82296" tIns="109728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해결 — DB를 통한 간접 통신 + RPC 원자화</a:t>
            </a:r>
          </a:p>
          <a:p>
            <a:pPr algn="l">
              <a:lnSpc>
                <a:spcPct val="115000"/>
              </a:lnSpc>
            </a:pPr>
            <a:r>
              <a:rPr sz="93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라이브 상태를 Supabase 작업 테이블에 저장해 두 웹앱이 간접 통신, "조회 후 쓰기" 경쟁상태는 RPC 트랜잭션으로 원자화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/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/>
              <a:t>보안 · 인증 구조</a:t>
            </a:r>
            <a:endParaRPr/>
          </a:p>
        </p:txBody>
      </p:sp>
      <p:sp>
        <p:nvSpPr>
          <p:cNvPr id="227" name="Google Shape;227;p15"/>
          <p:cNvSpPr txBox="1"/>
          <p:nvPr>
            <p:ph idx="12" type="sldNum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384048" y="1005840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계층 간 인증 방식을 분리 — 모델 제공자 키는 ai-server에만 보관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384048" y="1481328"/>
            <a:ext cx="160020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54864"/>
          <a:lstStyle/>
          <a:p>
            <a:pPr algn="ctr">
              <a:spcAft>
                <a:spcPts val="100"/>
              </a:spcAft>
            </a:pPr>
            <a:r>
              <a:rPr sz="10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사용자</a:t>
            </a:r>
          </a:p>
          <a:p>
            <a:pPr algn="ctr">
              <a:lnSpc>
                <a:spcPct val="100000"/>
              </a:lnSpc>
            </a:pPr>
            <a:r>
              <a:rPr sz="78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강사: 조직 로그인
수강생: 익명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2788920" y="1481328"/>
            <a:ext cx="155448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54864"/>
          <a:lstStyle/>
          <a:p>
            <a:pPr algn="ctr">
              <a:spcAft>
                <a:spcPts val="100"/>
              </a:spcAft>
            </a:pPr>
            <a:r>
              <a:rPr sz="10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GAS 웹앱 (A·B)</a:t>
            </a:r>
          </a:p>
          <a:p>
            <a:pPr algn="ctr">
              <a:lnSpc>
                <a:spcPct val="100000"/>
              </a:lnSpc>
            </a:pPr>
            <a:r>
              <a:rPr sz="78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HtmlService 화면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5349240" y="1481328"/>
            <a:ext cx="173736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378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54864"/>
          <a:lstStyle/>
          <a:p>
            <a:pPr algn="ctr">
              <a:spcAft>
                <a:spcPts val="100"/>
              </a:spcAft>
            </a:pPr>
            <a:r>
              <a:rPr sz="10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publish-engine</a:t>
            </a:r>
          </a:p>
          <a:p>
            <a:pPr algn="ctr">
              <a:lnSpc>
                <a:spcPct val="100000"/>
              </a:lnSpc>
            </a:pPr>
            <a:r>
              <a:rPr sz="78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라이브러리 (같은 실행 컨텍스트)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8183879" y="1481328"/>
            <a:ext cx="164592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3E9B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54864"/>
          <a:lstStyle/>
          <a:p>
            <a:pPr algn="ctr">
              <a:spcAft>
                <a:spcPts val="100"/>
              </a:spcAft>
            </a:pPr>
            <a:r>
              <a:rPr sz="10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Workspace 저장소</a:t>
            </a:r>
          </a:p>
          <a:p>
            <a:pPr algn="ctr">
              <a:lnSpc>
                <a:spcPct val="100000"/>
              </a:lnSpc>
            </a:pPr>
            <a:r>
              <a:rPr sz="78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Drive · Sheets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1984248" y="1920240"/>
            <a:ext cx="804672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828800" y="201168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HTTPS</a:t>
            </a:r>
          </a:p>
        </p:txBody>
      </p:sp>
      <p:cxnSp>
        <p:nvCxnSpPr>
          <p:cNvPr id="235" name="Connector 234"/>
          <p:cNvCxnSpPr/>
          <p:nvPr/>
        </p:nvCxnSpPr>
        <p:spPr>
          <a:xfrm>
            <a:off x="4343400" y="1920240"/>
            <a:ext cx="1005840" cy="0"/>
          </a:xfrm>
          <a:prstGeom prst="line">
            <a:avLst/>
          </a:prstGeom>
          <a:ln w="19050">
            <a:solidFill>
              <a:srgbClr val="3786B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6" name="TextBox 235"/>
          <p:cNvSpPr txBox="1"/>
          <p:nvPr/>
        </p:nvSpPr>
        <p:spPr>
          <a:xfrm>
            <a:off x="4224528" y="2395728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라이브러리 호출
(API 키 없음·호출자 권한)</a:t>
            </a:r>
          </a:p>
        </p:txBody>
      </p:sp>
      <p:cxnSp>
        <p:nvCxnSpPr>
          <p:cNvPr id="237" name="Connector 236"/>
          <p:cNvCxnSpPr/>
          <p:nvPr/>
        </p:nvCxnSpPr>
        <p:spPr>
          <a:xfrm>
            <a:off x="7086600" y="1920240"/>
            <a:ext cx="1097279" cy="0"/>
          </a:xfrm>
          <a:prstGeom prst="line">
            <a:avLst/>
          </a:prstGeom>
          <a:ln w="19050">
            <a:solidFill>
              <a:srgbClr val="3E9B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8" name="TextBox 237"/>
          <p:cNvSpPr txBox="1"/>
          <p:nvPr/>
        </p:nvSpPr>
        <p:spPr>
          <a:xfrm>
            <a:off x="7104888" y="2395728"/>
            <a:ext cx="1051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3E9B6F"/>
                </a:solidFill>
                <a:latin typeface="맑은 고딕"/>
                <a:ea typeface="맑은 고딕"/>
                <a:cs typeface="맑은 고딕"/>
              </a:rPr>
              <a:t>계정 권한으로
기록/조회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384048" y="2880360"/>
            <a:ext cx="228600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54864"/>
          <a:lstStyle/>
          <a:p>
            <a:pPr algn="ctr">
              <a:spcAft>
                <a:spcPts val="100"/>
              </a:spcAft>
            </a:pPr>
            <a:r>
              <a:rPr sz="10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system-b-dashboard</a:t>
            </a:r>
          </a:p>
          <a:p>
            <a:pPr algn="ctr"/>
            <a:r>
              <a:rPr sz="78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AI 기능 호출 주체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4114800" y="2880360"/>
            <a:ext cx="2286000" cy="868680"/>
          </a:xfrm>
          <a:prstGeom prst="roundRect">
            <a:avLst>
              <a:gd name="adj" fmla="val 5000"/>
            </a:avLst>
          </a:prstGeom>
          <a:solidFill>
            <a:srgbClr val="FDF4EE"/>
          </a:solidFill>
          <a:ln w="1524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54864"/>
          <a:lstStyle/>
          <a:p>
            <a:pPr algn="ctr">
              <a:spcAft>
                <a:spcPts val="100"/>
              </a:spcAft>
            </a:pPr>
            <a:r>
              <a:rPr sz="1000"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ai-server</a:t>
            </a:r>
          </a:p>
          <a:p>
            <a:pPr algn="ctr"/>
            <a:r>
              <a:rPr sz="78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Cloud Run · FastAPI</a:t>
            </a:r>
          </a:p>
        </p:txBody>
      </p:sp>
      <p:sp>
        <p:nvSpPr>
          <p:cNvPr id="241" name="Rounded Rectangle 240"/>
          <p:cNvSpPr/>
          <p:nvPr/>
        </p:nvSpPr>
        <p:spPr>
          <a:xfrm>
            <a:off x="7863840" y="2560320"/>
            <a:ext cx="219456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3E9B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54864"/>
          <a:lstStyle/>
          <a:p>
            <a:pPr algn="ctr">
              <a:spcAft>
                <a:spcPts val="100"/>
              </a:spcAft>
            </a:pPr>
            <a:r>
              <a:rPr sz="10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Supabase</a:t>
            </a:r>
          </a:p>
          <a:p>
            <a:pPr algn="ctr"/>
            <a:r>
              <a:rPr sz="78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전 테이블 RLS 적용</a:t>
            </a:r>
          </a:p>
        </p:txBody>
      </p:sp>
      <p:sp>
        <p:nvSpPr>
          <p:cNvPr id="242" name="Rounded Rectangle 241"/>
          <p:cNvSpPr/>
          <p:nvPr/>
        </p:nvSpPr>
        <p:spPr>
          <a:xfrm>
            <a:off x="7863840" y="3566160"/>
            <a:ext cx="219456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54864"/>
          <a:lstStyle/>
          <a:p>
            <a:pPr algn="ctr">
              <a:spcAft>
                <a:spcPts val="100"/>
              </a:spcAft>
            </a:pPr>
            <a:r>
              <a:rPr sz="10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OpenAI</a:t>
            </a:r>
          </a:p>
          <a:p>
            <a:pPr algn="ctr"/>
            <a:r>
              <a:rPr sz="78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GPT-4o</a:t>
            </a:r>
          </a:p>
        </p:txBody>
      </p:sp>
      <p:cxnSp>
        <p:nvCxnSpPr>
          <p:cNvPr id="243" name="Connector 242"/>
          <p:cNvCxnSpPr/>
          <p:nvPr/>
        </p:nvCxnSpPr>
        <p:spPr>
          <a:xfrm>
            <a:off x="2670048" y="3310128"/>
            <a:ext cx="1444752" cy="0"/>
          </a:xfrm>
          <a:prstGeom prst="line">
            <a:avLst/>
          </a:prstGeom>
          <a:ln w="19050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4" name="TextBox 243"/>
          <p:cNvSpPr txBox="1"/>
          <p:nvPr/>
        </p:nvSpPr>
        <p:spPr>
          <a:xfrm>
            <a:off x="2697480" y="3401568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X-API-Key
(공유 비밀키 AI_SERVER_KEY)</a:t>
            </a:r>
          </a:p>
        </p:txBody>
      </p:sp>
      <p:cxnSp>
        <p:nvCxnSpPr>
          <p:cNvPr id="245" name="Connector 244"/>
          <p:cNvCxnSpPr/>
          <p:nvPr/>
        </p:nvCxnSpPr>
        <p:spPr>
          <a:xfrm flipV="1">
            <a:off x="6400800" y="2926080"/>
            <a:ext cx="1463040" cy="228600"/>
          </a:xfrm>
          <a:prstGeom prst="line">
            <a:avLst/>
          </a:prstGeom>
          <a:ln w="19050">
            <a:solidFill>
              <a:srgbClr val="3E9B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6" name="TextBox 245"/>
          <p:cNvSpPr txBox="1"/>
          <p:nvPr/>
        </p:nvSpPr>
        <p:spPr>
          <a:xfrm>
            <a:off x="6446520" y="26974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>
                <a:solidFill>
                  <a:srgbClr val="3E9B6F"/>
                </a:solidFill>
                <a:latin typeface="맑은 고딕"/>
                <a:ea typeface="맑은 고딕"/>
                <a:cs typeface="맑은 고딕"/>
              </a:rPr>
              <a:t>service_role 키</a:t>
            </a:r>
          </a:p>
        </p:txBody>
      </p:sp>
      <p:cxnSp>
        <p:nvCxnSpPr>
          <p:cNvPr id="247" name="Connector 246"/>
          <p:cNvCxnSpPr/>
          <p:nvPr/>
        </p:nvCxnSpPr>
        <p:spPr>
          <a:xfrm>
            <a:off x="6400800" y="3474720"/>
            <a:ext cx="1463040" cy="274319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8" name="TextBox 247"/>
          <p:cNvSpPr txBox="1"/>
          <p:nvPr/>
        </p:nvSpPr>
        <p:spPr>
          <a:xfrm>
            <a:off x="6446520" y="3703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OPENAI_KEY
(서버 전용)</a:t>
            </a:r>
          </a:p>
        </p:txBody>
      </p:sp>
      <p:sp>
        <p:nvSpPr>
          <p:cNvPr id="249" name="Rounded Rectangle 248"/>
          <p:cNvSpPr/>
          <p:nvPr/>
        </p:nvSpPr>
        <p:spPr>
          <a:xfrm>
            <a:off x="384048" y="4709160"/>
            <a:ext cx="2761488" cy="1645920"/>
          </a:xfrm>
          <a:prstGeom prst="roundRect">
            <a:avLst>
              <a:gd name="adj" fmla="val 7000"/>
            </a:avLst>
          </a:prstGeom>
          <a:solidFill>
            <a:srgbClr val="EF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82296" tIns="91440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모델 키 집중 보관</a:t>
            </a:r>
          </a:p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OpenAI 키는 Cloud Run 환경변수에만 존재 — GAS 스크립트 속성에는 없음. 키 유출 면적 최소화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3273552" y="4709160"/>
            <a:ext cx="2761488" cy="1645920"/>
          </a:xfrm>
          <a:prstGeom prst="roundRect">
            <a:avLst>
              <a:gd name="adj" fmla="val 7000"/>
            </a:avLst>
          </a:prstGeom>
          <a:solidFill>
            <a:srgbClr val="EF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82296" tIns="91440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설정 중앙화</a:t>
            </a:r>
          </a:p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모든 ID·URL·키는 Config.js의 PropertiesService에 집중, 민감 키는 getSecret() 화이트리스트 검증 후에만 반환</a:t>
            </a:r>
          </a:p>
        </p:txBody>
      </p:sp>
      <p:sp>
        <p:nvSpPr>
          <p:cNvPr id="251" name="Rounded Rectangle 250"/>
          <p:cNvSpPr/>
          <p:nvPr/>
        </p:nvSpPr>
        <p:spPr>
          <a:xfrm>
            <a:off x="6163056" y="4709160"/>
            <a:ext cx="2761488" cy="1645920"/>
          </a:xfrm>
          <a:prstGeom prst="roundRect">
            <a:avLst>
              <a:gd name="adj" fmla="val 7000"/>
            </a:avLst>
          </a:prstGeom>
          <a:solidFill>
            <a:srgbClr val="EF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82296" tIns="91440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원본 파일 비노출</a:t>
            </a:r>
          </a:p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수강생에게는 웹게시 URL만 제공, 원본 링크 미노출 → 편집·다운로드 원천 차단</a:t>
            </a:r>
          </a:p>
        </p:txBody>
      </p:sp>
      <p:sp>
        <p:nvSpPr>
          <p:cNvPr id="252" name="Rounded Rectangle 251"/>
          <p:cNvSpPr/>
          <p:nvPr/>
        </p:nvSpPr>
        <p:spPr>
          <a:xfrm>
            <a:off x="9052560" y="4709160"/>
            <a:ext cx="2761488" cy="1645920"/>
          </a:xfrm>
          <a:prstGeom prst="roundRect">
            <a:avLst>
              <a:gd name="adj" fmla="val 7000"/>
            </a:avLst>
          </a:prstGeom>
          <a:solidFill>
            <a:srgbClr val="EF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82296" tIns="91440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XSS 방어 정책</a:t>
            </a:r>
          </a:p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사용자 입력은 응답에 echo하지 않고 고정 문구만 표시, 화면 출력은 esc() 공통 이스케이프 · &lt;/script 조기종료 방지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3"/>
          <p:cNvPicPr preferRelativeResize="0"/>
          <p:nvPr/>
        </p:nvPicPr>
        <p:blipFill rotWithShape="1">
          <a:blip r:embed="rId3">
            <a:alphaModFix/>
          </a:blip>
          <a:srcRect b="5000" l="0" r="0" t="4999"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3"/>
          <p:cNvSpPr/>
          <p:nvPr/>
        </p:nvSpPr>
        <p:spPr>
          <a:xfrm>
            <a:off x="4471026" y="3062808"/>
            <a:ext cx="3763404" cy="5233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주요 기능</a:t>
            </a:r>
            <a:endParaRPr b="1" i="0" sz="2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3"/>
          <p:cNvSpPr txBox="1"/>
          <p:nvPr>
            <p:ph type="title"/>
          </p:nvPr>
        </p:nvSpPr>
        <p:spPr>
          <a:xfrm>
            <a:off x="4214297" y="2295634"/>
            <a:ext cx="4276863" cy="7067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lang="en-US"/>
              <a:t>PART 03</a:t>
            </a:r>
            <a:endParaRPr/>
          </a:p>
        </p:txBody>
      </p:sp>
      <p:sp>
        <p:nvSpPr>
          <p:cNvPr id="115" name="Google Shape;115;p13"/>
          <p:cNvSpPr txBox="1"/>
          <p:nvPr>
            <p:ph idx="1" type="body"/>
          </p:nvPr>
        </p:nvSpPr>
        <p:spPr>
          <a:xfrm>
            <a:off x="2212848" y="3767328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en-US" sz="1250">
                <a:solidFill>
                  <a:srgbClr val="595959"/>
                </a:solidFill>
              </a:rPr>
              <a:t>수강생 뷰어  ·  강사 대시보드  ·  실시간 설문  ·  AI 기능 4종   (실행 화면 캡처는 추후 추가 예정)</a:t>
            </a:r>
            <a:endParaRPr/>
          </a:p>
        </p:txBody>
      </p:sp>
      <p:sp>
        <p:nvSpPr>
          <p:cNvPr id="116" name="Google Shape;116;p13"/>
          <p:cNvSpPr txBox="1"/>
          <p:nvPr>
            <p:ph idx="12" type="sldNum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/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/>
              <a:t>주요 기능 ① — 수강생 뷰어 (System A)</a:t>
            </a:r>
            <a:endParaRPr/>
          </a:p>
        </p:txBody>
      </p:sp>
      <p:sp>
        <p:nvSpPr>
          <p:cNvPr id="227" name="Google Shape;227;p15"/>
          <p:cNvSpPr txBox="1"/>
          <p:nvPr>
            <p:ph idx="12" type="sldNum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384048" y="1005840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로그인 없이 링크 하나로 열람 — 편집·다운로드는 원천 차단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384048" y="1463040"/>
            <a:ext cx="5669280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82296" tIns="54864"/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키워드 URL 접속</a:t>
            </a:r>
          </a:p>
          <a:p>
            <a:pPr algn="l">
              <a:lnSpc>
                <a:spcPct val="112000"/>
              </a:lnSpc>
            </a:pPr>
            <a:r>
              <a:rPr sz="93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?k=키워드 링크만으로 접속 — 로그인·계정 불필요, 외부 수강생도 즉시 이용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384048" y="2450592"/>
            <a:ext cx="5669280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82296" tIns="54864"/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목차 + 슬라이드 열람</a:t>
            </a:r>
          </a:p>
          <a:p>
            <a:pPr algn="l">
              <a:lnSpc>
                <a:spcPct val="112000"/>
              </a:lnSpc>
            </a:pPr>
            <a:r>
              <a:rPr sz="93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좌측 목차 사이드바(검색 지원) + 우측 슬라이드 embed, 목차 클릭 시 해당 슬라이드로 이동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384048" y="3438144"/>
            <a:ext cx="5669280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82296" tIns="54864"/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원본 보호</a:t>
            </a:r>
          </a:p>
          <a:p>
            <a:pPr algn="l">
              <a:lnSpc>
                <a:spcPct val="112000"/>
              </a:lnSpc>
            </a:pPr>
            <a:r>
              <a:rPr sz="93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웹게시 화면만 노출하고 원본 파일 링크는 제공하지 않음 → 편집·다운로드 차단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384048" y="4425696"/>
            <a:ext cx="5669280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82296" tIns="54864"/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실시간 설문 참여</a:t>
            </a:r>
          </a:p>
          <a:p>
            <a:pPr algn="l">
              <a:lnSpc>
                <a:spcPct val="112000"/>
              </a:lnSpc>
            </a:pPr>
            <a:r>
              <a:rPr sz="93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[답변하기]에서 고유키 입력 → 진행 중 설문에 익명으로 응답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384048" y="5413248"/>
            <a:ext cx="5669280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82296" tIns="54864"/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URL 영구 고정</a:t>
            </a:r>
          </a:p>
          <a:p>
            <a:pPr algn="l">
              <a:lnSpc>
                <a:spcPct val="112000"/>
              </a:lnSpc>
            </a:pPr>
            <a:r>
              <a:rPr sz="93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같은 키워드로 재배포하면 내용만 갱신 — 게시판에 공유한 링크가 계속 유효</a:t>
            </a:r>
          </a:p>
        </p:txBody>
      </p:sp>
      <p:sp>
        <p:nvSpPr>
          <p:cNvPr id="234" name="Rounded Rectangle 233"/>
          <p:cNvSpPr/>
          <p:nvPr/>
        </p:nvSpPr>
        <p:spPr>
          <a:xfrm>
            <a:off x="6400800" y="1463040"/>
            <a:ext cx="5413248" cy="4828032"/>
          </a:xfrm>
          <a:prstGeom prst="roundRect">
            <a:avLst>
              <a:gd name="adj" fmla="val 3000"/>
            </a:avLst>
          </a:prstGeom>
          <a:solidFill>
            <a:srgbClr val="F7FAFD"/>
          </a:solidFill>
          <a:ln w="15240">
            <a:solidFill>
              <a:srgbClr val="5B9BD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54864"/>
          <a:lstStyle/>
          <a:p>
            <a:pPr algn="ctr">
              <a:spcAft>
                <a:spcPts val="600"/>
              </a:spcAft>
            </a:pPr>
            <a:r>
              <a:rPr sz="2800" b="0" i="0">
                <a:solidFill>
                  <a:srgbClr val="5B9BD5"/>
                </a:solidFill>
                <a:latin typeface="맑은 고딕"/>
                <a:ea typeface="맑은 고딕"/>
                <a:cs typeface="맑은 고딕"/>
              </a:rPr>
              <a:t>🖥</a:t>
            </a:r>
          </a:p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5B9BD5"/>
                </a:solidFill>
                <a:latin typeface="맑은 고딕"/>
                <a:ea typeface="맑은 고딕"/>
                <a:cs typeface="맑은 고딕"/>
              </a:rPr>
              <a:t>뷰어 실행 화면 캡처</a:t>
            </a:r>
          </a:p>
          <a:p>
            <a:pPr algn="ctr"/>
            <a:r>
              <a:rPr sz="1000" b="0" i="0">
                <a:solidFill>
                  <a:srgbClr val="8A8A8A"/>
                </a:solidFill>
                <a:latin typeface="맑은 고딕"/>
                <a:ea typeface="맑은 고딕"/>
                <a:cs typeface="맑은 고딕"/>
              </a:rPr>
              <a:t>(이미지 추후 삽입 예정)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/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/>
              <a:t>주요 기능 ② — 강사 대시보드 (System B)</a:t>
            </a:r>
            <a:endParaRPr/>
          </a:p>
        </p:txBody>
      </p:sp>
      <p:sp>
        <p:nvSpPr>
          <p:cNvPr id="227" name="Google Shape;227;p15"/>
          <p:cNvSpPr txBox="1"/>
          <p:nvPr>
            <p:ph idx="12" type="sldNum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384048" y="1005840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조직 내부 전용 — 배포부터 AI 기능까지 강의 운영의 단일 진입점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384048" y="1463040"/>
            <a:ext cx="5669280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82296" tIns="54864"/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원클릭 배포</a:t>
            </a:r>
          </a:p>
          <a:p>
            <a:pPr algn="l">
              <a:lnSpc>
                <a:spcPct val="112000"/>
              </a:lnSpc>
            </a:pPr>
            <a:r>
              <a:rPr sz="93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키워드·제목·슬라이드 URL 입력 후 [배포] → 변환·웹게시·목차 추출·DB 기록 자동 처리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384048" y="2450592"/>
            <a:ext cx="5669280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82296" tIns="54864"/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강의 목록 관리</a:t>
            </a:r>
          </a:p>
          <a:p>
            <a:pPr algn="l">
              <a:lnSpc>
                <a:spcPct val="112000"/>
              </a:lnSpc>
            </a:pPr>
            <a:r>
              <a:rPr sz="93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배포된 강의 목록 표 — 뷰어 URL 복사·뷰어 열기·수정·삭제, 제목만 경량 수정 지원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384048" y="3438144"/>
            <a:ext cx="5669280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82296" tIns="54864"/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실시간 설문 출제</a:t>
            </a:r>
          </a:p>
          <a:p>
            <a:pPr algn="l">
              <a:lnSpc>
                <a:spcPct val="112000"/>
              </a:lnSpc>
            </a:pPr>
            <a:r>
              <a:rPr sz="93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문제 출제 → 고유키 공개 → 종료 시 자동 채점·정답률·분포 집계 → 저장 여부 선택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384048" y="4425696"/>
            <a:ext cx="5669280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82296" tIns="54864"/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AI 기능 4종 호출</a:t>
            </a:r>
          </a:p>
          <a:p>
            <a:pPr algn="l">
              <a:lnSpc>
                <a:spcPct val="112000"/>
              </a:lnSpc>
            </a:pPr>
            <a:r>
              <a:rPr sz="93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시험문제 생성 · 의견 요약 · 가상질문 · 강의자료 평가 — AI_MODE 스크립트 속성으로 ON/OFF 제어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384048" y="5413248"/>
            <a:ext cx="5669280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82296" tIns="54864"/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접근 제어</a:t>
            </a:r>
          </a:p>
          <a:p>
            <a:pPr algn="l">
              <a:lnSpc>
                <a:spcPct val="112000"/>
              </a:lnSpc>
            </a:pPr>
            <a:r>
              <a:rPr sz="93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조직 내부(DOMAIN) 접근 · 접속자 본인 권한으로 실행, 도움말 페이지 내장</a:t>
            </a:r>
          </a:p>
        </p:txBody>
      </p:sp>
      <p:sp>
        <p:nvSpPr>
          <p:cNvPr id="234" name="Rounded Rectangle 233"/>
          <p:cNvSpPr/>
          <p:nvPr/>
        </p:nvSpPr>
        <p:spPr>
          <a:xfrm>
            <a:off x="6400800" y="1463040"/>
            <a:ext cx="5413248" cy="4828032"/>
          </a:xfrm>
          <a:prstGeom prst="roundRect">
            <a:avLst>
              <a:gd name="adj" fmla="val 3000"/>
            </a:avLst>
          </a:prstGeom>
          <a:solidFill>
            <a:srgbClr val="F7FAFD"/>
          </a:solidFill>
          <a:ln w="15240">
            <a:solidFill>
              <a:srgbClr val="5B9BD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54864"/>
          <a:lstStyle/>
          <a:p>
            <a:pPr algn="ctr">
              <a:spcAft>
                <a:spcPts val="600"/>
              </a:spcAft>
            </a:pPr>
            <a:r>
              <a:rPr sz="2800" b="0" i="0">
                <a:solidFill>
                  <a:srgbClr val="5B9BD5"/>
                </a:solidFill>
                <a:latin typeface="맑은 고딕"/>
                <a:ea typeface="맑은 고딕"/>
                <a:cs typeface="맑은 고딕"/>
              </a:rPr>
              <a:t>🖥</a:t>
            </a:r>
          </a:p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5B9BD5"/>
                </a:solidFill>
                <a:latin typeface="맑은 고딕"/>
                <a:ea typeface="맑은 고딕"/>
                <a:cs typeface="맑은 고딕"/>
              </a:rPr>
              <a:t>대시보드 실행 화면 캡처</a:t>
            </a:r>
          </a:p>
          <a:p>
            <a:pPr algn="ctr"/>
            <a:r>
              <a:rPr sz="1000" b="0" i="0">
                <a:solidFill>
                  <a:srgbClr val="8A8A8A"/>
                </a:solidFill>
                <a:latin typeface="맑은 고딕"/>
                <a:ea typeface="맑은 고딕"/>
                <a:cs typeface="맑은 고딕"/>
              </a:rPr>
              <a:t>(이미지 추후 삽입 예정)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/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/>
              <a:t>주요 기능 ③ — 실시간 설문</a:t>
            </a:r>
            <a:endParaRPr/>
          </a:p>
        </p:txBody>
      </p:sp>
      <p:sp>
        <p:nvSpPr>
          <p:cNvPr id="227" name="Google Shape;227;p15"/>
          <p:cNvSpPr txBox="1"/>
          <p:nvPr>
            <p:ph idx="12" type="sldNum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384048" y="1005840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수업 중 즉석 출제와 실시간 집계 — 의견형은 AI 요약까지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384048" y="1463040"/>
            <a:ext cx="5669280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82296" tIns="54864"/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3가지 문제 유형</a:t>
            </a:r>
          </a:p>
          <a:p>
            <a:pPr algn="l">
              <a:lnSpc>
                <a:spcPct val="112000"/>
              </a:lnSpc>
            </a:pPr>
            <a:r>
              <a:rPr sz="93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객관식 · 단답형 · 의견형 — 유형별 입력 폼과 집계 방식 자동 전환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384048" y="2450592"/>
            <a:ext cx="5669280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82296" tIns="54864"/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고유키 참여</a:t>
            </a:r>
          </a:p>
          <a:p>
            <a:pPr algn="l">
              <a:lnSpc>
                <a:spcPct val="112000"/>
              </a:lnSpc>
            </a:pPr>
            <a:r>
              <a:rPr sz="93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혼동 문자를 뺀 4자리 고유키(o·l·0·1 제외) — 학생은 키 입력만으로 참여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384048" y="3438144"/>
            <a:ext cx="5669280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82296" tIns="54864"/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안전한 동시 제출</a:t>
            </a:r>
          </a:p>
          <a:p>
            <a:pPr algn="l">
              <a:lnSpc>
                <a:spcPct val="112000"/>
              </a:lnSpc>
            </a:pPr>
            <a:r>
              <a:rPr sz="93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RPC 원자적 INSERT — 강사가 종료하는 순간의 제출도 유실·중복 없이 처리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384048" y="4425696"/>
            <a:ext cx="5669280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82296" tIns="54864"/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자동 집계</a:t>
            </a:r>
          </a:p>
          <a:p>
            <a:pPr algn="l">
              <a:lnSpc>
                <a:spcPct val="112000"/>
              </a:lnSpc>
            </a:pPr>
            <a:r>
              <a:rPr sz="93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종료 시 정답률·응답 분포 즉시 계산, 의견형은 GPT-4o 요약(실패 시 원문 그대로 표시)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384048" y="5413248"/>
            <a:ext cx="5669280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82296" tIns="54864"/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저장 선택권</a:t>
            </a:r>
          </a:p>
          <a:p>
            <a:pPr algn="l">
              <a:lnSpc>
                <a:spcPct val="112000"/>
              </a:lnSpc>
            </a:pPr>
            <a:r>
              <a:rPr sz="93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[설문결과 저장] 시 트랜잭션으로 영구 이관, [저장하지 않고 종료] 시 흔적 없이 정리</a:t>
            </a:r>
          </a:p>
        </p:txBody>
      </p:sp>
      <p:sp>
        <p:nvSpPr>
          <p:cNvPr id="234" name="Rounded Rectangle 233"/>
          <p:cNvSpPr/>
          <p:nvPr/>
        </p:nvSpPr>
        <p:spPr>
          <a:xfrm>
            <a:off x="6400800" y="1463040"/>
            <a:ext cx="5413248" cy="4828032"/>
          </a:xfrm>
          <a:prstGeom prst="roundRect">
            <a:avLst>
              <a:gd name="adj" fmla="val 3000"/>
            </a:avLst>
          </a:prstGeom>
          <a:solidFill>
            <a:srgbClr val="F7FAFD"/>
          </a:solidFill>
          <a:ln w="15240">
            <a:solidFill>
              <a:srgbClr val="5B9BD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54864"/>
          <a:lstStyle/>
          <a:p>
            <a:pPr algn="ctr">
              <a:spcAft>
                <a:spcPts val="600"/>
              </a:spcAft>
            </a:pPr>
            <a:r>
              <a:rPr sz="2800" b="0" i="0">
                <a:solidFill>
                  <a:srgbClr val="5B9BD5"/>
                </a:solidFill>
                <a:latin typeface="맑은 고딕"/>
                <a:ea typeface="맑은 고딕"/>
                <a:cs typeface="맑은 고딕"/>
              </a:rPr>
              <a:t>🖥</a:t>
            </a:r>
          </a:p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5B9BD5"/>
                </a:solidFill>
                <a:latin typeface="맑은 고딕"/>
                <a:ea typeface="맑은 고딕"/>
                <a:cs typeface="맑은 고딕"/>
              </a:rPr>
              <a:t>설문 출제·결과 화면 캡처</a:t>
            </a:r>
          </a:p>
          <a:p>
            <a:pPr algn="ctr"/>
            <a:r>
              <a:rPr sz="1000" b="0" i="0">
                <a:solidFill>
                  <a:srgbClr val="8A8A8A"/>
                </a:solidFill>
                <a:latin typeface="맑은 고딕"/>
                <a:ea typeface="맑은 고딕"/>
                <a:cs typeface="맑은 고딕"/>
              </a:rPr>
              <a:t>(이미지 추후 삽입 예정)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/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/>
              <a:t>주요 기능 ④ — AI 기능 4종</a:t>
            </a:r>
            <a:endParaRPr/>
          </a:p>
        </p:txBody>
      </p:sp>
      <p:sp>
        <p:nvSpPr>
          <p:cNvPr id="227" name="Google Shape;227;p15"/>
          <p:cNvSpPr txBox="1"/>
          <p:nvPr>
            <p:ph idx="12" type="sldNum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384048" y="1005840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전부 OpenAI GPT-4o 단일 제공자로 통일 — 전용 백엔드(ai-server)를 통해서만 호출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384048" y="169164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82296" tIns="109728"/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시험문제 생성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95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슬라이드 본문 + 가상질문을 근거로 유형(객관식/단답형/서술형) × 난이도(초/중/고) 조합 문제 생성</a:t>
            </a:r>
          </a:p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8A8A8A"/>
                </a:solidFill>
                <a:latin typeface="맑은 고딕"/>
                <a:ea typeface="맑은 고딕"/>
                <a:cs typeface="맑은 고딕"/>
              </a:rPr>
              <a:t>구조화 출력 단발 체인 · 캐시 없음(매번 생성) · 새 탭 표시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3977639" y="169164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82296" tIns="109728"/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설문 의견 요약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95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의견형 설문 종료 시 학생 답변을 요약 — 숫자 언급 금지 등 grounding 규칙으로 hallucination 방지</a:t>
            </a:r>
          </a:p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8A8A8A"/>
                </a:solidFill>
                <a:latin typeface="맑은 고딕"/>
                <a:ea typeface="맑은 고딕"/>
                <a:cs typeface="맑은 고딕"/>
              </a:rPr>
              <a:t>단발 체인 · 실패 시 원문 폴백 · 결과 모달 표시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384048" y="3977639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82296" tIns="109728"/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가상질문 생성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95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4종 학생 페르소나가 슬라이드를 순서대로 읽으며 "막히는 지점"의 질문을 생성</a:t>
            </a:r>
          </a:p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8A8A8A"/>
                </a:solidFill>
                <a:latin typeface="맑은 고딕"/>
                <a:ea typeface="맑은 고딕"/>
                <a:cs typeface="맑은 고딕"/>
              </a:rPr>
              <a:t>LangGraph 상태 유지 루프 · 키워드+페르소나당 최신 1건 캐시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3977639" y="3977639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82296" tIns="109728"/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강의자료 평가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95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구조·구성 검토 + 학습자 신호 분석 + 웹검색 기반 최신성 검토를 산문형 리포트로 제공</a:t>
            </a:r>
          </a:p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8A8A8A"/>
                </a:solidFill>
                <a:latin typeface="맑은 고딕"/>
                <a:ea typeface="맑은 고딕"/>
                <a:cs typeface="맑은 고딕"/>
              </a:rPr>
              <a:t>구조화 출력 + 웹검색 2단계 · 키워드당 최신 1건 캐시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7726679" y="1691640"/>
            <a:ext cx="4087368" cy="4297680"/>
          </a:xfrm>
          <a:prstGeom prst="roundRect">
            <a:avLst>
              <a:gd name="adj" fmla="val 3000"/>
            </a:avLst>
          </a:prstGeom>
          <a:solidFill>
            <a:srgbClr val="F7FAFD"/>
          </a:solidFill>
          <a:ln w="15240">
            <a:solidFill>
              <a:srgbClr val="5B9BD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54864"/>
          <a:lstStyle/>
          <a:p>
            <a:pPr algn="ctr">
              <a:spcAft>
                <a:spcPts val="600"/>
              </a:spcAft>
            </a:pPr>
            <a:r>
              <a:rPr sz="2800" b="0" i="0">
                <a:solidFill>
                  <a:srgbClr val="5B9BD5"/>
                </a:solidFill>
                <a:latin typeface="맑은 고딕"/>
                <a:ea typeface="맑은 고딕"/>
                <a:cs typeface="맑은 고딕"/>
              </a:rPr>
              <a:t>🖥</a:t>
            </a:r>
          </a:p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5B9BD5"/>
                </a:solidFill>
                <a:latin typeface="맑은 고딕"/>
                <a:ea typeface="맑은 고딕"/>
                <a:cs typeface="맑은 고딕"/>
              </a:rPr>
              <a:t>AI 기능 결과 화면 캡처</a:t>
            </a:r>
          </a:p>
          <a:p>
            <a:pPr algn="ctr"/>
            <a:r>
              <a:rPr sz="1000" b="0" i="0">
                <a:solidFill>
                  <a:srgbClr val="8A8A8A"/>
                </a:solidFill>
                <a:latin typeface="맑은 고딕"/>
                <a:ea typeface="맑은 고딕"/>
                <a:cs typeface="맑은 고딕"/>
              </a:rPr>
              <a:t>(이미지 추후 삽입 예정)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3"/>
          <p:cNvPicPr preferRelativeResize="0"/>
          <p:nvPr/>
        </p:nvPicPr>
        <p:blipFill rotWithShape="1">
          <a:blip r:embed="rId3">
            <a:alphaModFix/>
          </a:blip>
          <a:srcRect b="5000" l="0" r="0" t="4999"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3"/>
          <p:cNvSpPr/>
          <p:nvPr/>
        </p:nvSpPr>
        <p:spPr>
          <a:xfrm>
            <a:off x="4471026" y="3062808"/>
            <a:ext cx="3763404" cy="5233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AI 기능 상세 · 기술 스택</a:t>
            </a:r>
            <a:endParaRPr b="1" i="0" sz="2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3"/>
          <p:cNvSpPr txBox="1"/>
          <p:nvPr>
            <p:ph type="title"/>
          </p:nvPr>
        </p:nvSpPr>
        <p:spPr>
          <a:xfrm>
            <a:off x="4214297" y="2295634"/>
            <a:ext cx="4276863" cy="7067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lang="en-US"/>
              <a:t>PART 04</a:t>
            </a:r>
            <a:endParaRPr/>
          </a:p>
        </p:txBody>
      </p:sp>
      <p:sp>
        <p:nvSpPr>
          <p:cNvPr id="115" name="Google Shape;115;p13"/>
          <p:cNvSpPr txBox="1"/>
          <p:nvPr>
            <p:ph idx="1" type="body"/>
          </p:nvPr>
        </p:nvSpPr>
        <p:spPr>
          <a:xfrm>
            <a:off x="2212848" y="3767328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en-US" sz="1250">
                <a:solidFill>
                  <a:srgbClr val="595959"/>
                </a:solidFill>
              </a:rPr>
              <a:t>FastAPI  ·  LangChain  ·  LangGraph  ·  OpenAI GPT-4o — 호출 구조와 체인 설계</a:t>
            </a:r>
            <a:endParaRPr/>
          </a:p>
        </p:txBody>
      </p:sp>
      <p:sp>
        <p:nvSpPr>
          <p:cNvPr id="116" name="Google Shape;116;p13"/>
          <p:cNvSpPr txBox="1"/>
          <p:nvPr>
            <p:ph idx="12" type="sldNum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/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/>
              <a:t>AI 기술 스택 구성</a:t>
            </a:r>
            <a:endParaRPr/>
          </a:p>
        </p:txBody>
      </p:sp>
      <p:sp>
        <p:nvSpPr>
          <p:cNvPr id="227" name="Google Shape;227;p15"/>
          <p:cNvSpPr txBox="1"/>
          <p:nvPr>
            <p:ph idx="12" type="sldNum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384048" y="1005840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호출 게이트부터 모델·데이터·배포까지 — 계층별 역할과 선택 이유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384048" y="1481328"/>
            <a:ext cx="1417320" cy="566928"/>
          </a:xfrm>
          <a:prstGeom prst="roundRect">
            <a:avLst>
              <a:gd name="adj" fmla="val 10000"/>
            </a:avLst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54864"/>
          <a:lstStyle/>
          <a:p>
            <a:pPr algn="ctr"/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호출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1901952" y="1481328"/>
            <a:ext cx="580644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82296" tIns="27432" bIns="27432"/>
          <a:lstStyle/>
          <a:p>
            <a:pPr algn="l">
              <a:spcAft>
                <a:spcPts val="100"/>
              </a:spcAft>
            </a:pPr>
            <a:r>
              <a:rPr sz="98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GAS UrlFetchApp</a:t>
            </a:r>
          </a:p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system-b 대시보드에서만 호출 · X-API-Key 공유 비밀키 인증 · AI_MODE ON/OFF 게이트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384048" y="2171700"/>
            <a:ext cx="1417320" cy="566928"/>
          </a:xfrm>
          <a:prstGeom prst="roundRect">
            <a:avLst>
              <a:gd name="adj" fmla="val 10000"/>
            </a:avLst>
          </a:prstGeom>
          <a:solidFill>
            <a:srgbClr val="378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54864"/>
          <a:lstStyle/>
          <a:p>
            <a:pPr algn="ctr"/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API 서버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1901952" y="2171700"/>
            <a:ext cx="580644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82296" tIns="27432" bIns="27432"/>
          <a:lstStyle/>
          <a:p>
            <a:pPr algn="l">
              <a:spcAft>
                <a:spcPts val="100"/>
              </a:spcAft>
            </a:pPr>
            <a:r>
              <a:rPr sz="98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FastAPI + Uvicorn + Pydantic</a:t>
            </a:r>
          </a:p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Cloud Run 컨테이너 · 엔드포인트 4개 · BaseModel로 요청 스키마 강제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384048" y="2862072"/>
            <a:ext cx="1417320" cy="566928"/>
          </a:xfrm>
          <a:prstGeom prst="roundRect">
            <a:avLst>
              <a:gd name="adj" fmla="val 10000"/>
            </a:avLst>
          </a:prstGeom>
          <a:solidFill>
            <a:srgbClr val="1F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54864"/>
          <a:lstStyle/>
          <a:p>
            <a:pPr algn="ctr"/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오케스트레이션</a:t>
            </a:r>
          </a:p>
        </p:txBody>
      </p:sp>
      <p:sp>
        <p:nvSpPr>
          <p:cNvPr id="234" name="Rounded Rectangle 233"/>
          <p:cNvSpPr/>
          <p:nvPr/>
        </p:nvSpPr>
        <p:spPr>
          <a:xfrm>
            <a:off x="1901952" y="2862072"/>
            <a:ext cx="580644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82296" tIns="27432" bIns="27432"/>
          <a:lstStyle/>
          <a:p>
            <a:pPr algn="l">
              <a:spcAft>
                <a:spcPts val="100"/>
              </a:spcAft>
            </a:pPr>
            <a:r>
              <a:rPr sz="98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LangChain (langchain-openai)</a:t>
            </a:r>
          </a:p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ChatOpenAI 공용 프로바이더 · with_structured_output으로 출력을 Pydantic 모델로 강제 — 파싱 리스크 제거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384048" y="3552444"/>
            <a:ext cx="1417320" cy="566928"/>
          </a:xfrm>
          <a:prstGeom prst="roundRect">
            <a:avLst>
              <a:gd name="adj" fmla="val 10000"/>
            </a:avLst>
          </a:prstGeom>
          <a:solidFill>
            <a:srgbClr val="1F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54864"/>
          <a:lstStyle/>
          <a:p>
            <a:pPr algn="ctr"/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</p:txBody>
      </p:sp>
      <p:sp>
        <p:nvSpPr>
          <p:cNvPr id="236" name="Rounded Rectangle 235"/>
          <p:cNvSpPr/>
          <p:nvPr/>
        </p:nvSpPr>
        <p:spPr>
          <a:xfrm>
            <a:off x="1901952" y="3552444"/>
            <a:ext cx="580644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82296" tIns="27432" bIns="27432"/>
          <a:lstStyle/>
          <a:p>
            <a:pPr algn="l">
              <a:spcAft>
                <a:spcPts val="100"/>
              </a:spcAft>
            </a:pPr>
            <a:r>
              <a:rPr sz="98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LangGraph</a:t>
            </a:r>
          </a:p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StateGraph 상태 유지형 순차 루프 — 가상질문 생성의 "구간 읽기 + 컨텍스트 누적 + 조건부 반복"을 명시적으로 표현</a:t>
            </a:r>
          </a:p>
        </p:txBody>
      </p:sp>
      <p:sp>
        <p:nvSpPr>
          <p:cNvPr id="237" name="Rounded Rectangle 236"/>
          <p:cNvSpPr/>
          <p:nvPr/>
        </p:nvSpPr>
        <p:spPr>
          <a:xfrm>
            <a:off x="384048" y="4242816"/>
            <a:ext cx="1417320" cy="566928"/>
          </a:xfrm>
          <a:prstGeom prst="roundRect">
            <a:avLst>
              <a:gd name="adj" fmla="val 10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54864"/>
          <a:lstStyle/>
          <a:p>
            <a:pPr algn="ctr"/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LLM 모델</a:t>
            </a:r>
          </a:p>
        </p:txBody>
      </p:sp>
      <p:sp>
        <p:nvSpPr>
          <p:cNvPr id="238" name="Rounded Rectangle 237"/>
          <p:cNvSpPr/>
          <p:nvPr/>
        </p:nvSpPr>
        <p:spPr>
          <a:xfrm>
            <a:off x="1901952" y="4242816"/>
            <a:ext cx="580644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82296" tIns="27432" bIns="27432"/>
          <a:lstStyle/>
          <a:p>
            <a:pPr algn="l">
              <a:spcAft>
                <a:spcPts val="100"/>
              </a:spcAft>
            </a:pPr>
            <a:r>
              <a:rPr sz="98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OpenAI GPT-4o</a:t>
            </a:r>
          </a:p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AI 4개 기능 전부 단일 제공자로 통일 · Responses API 내장 웹검색(web_search_preview) 활용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384048" y="4933188"/>
            <a:ext cx="1417320" cy="566928"/>
          </a:xfrm>
          <a:prstGeom prst="roundRect">
            <a:avLst>
              <a:gd name="adj" fmla="val 10000"/>
            </a:avLst>
          </a:prstGeom>
          <a:solidFill>
            <a:srgbClr val="3E9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54864"/>
          <a:lstStyle/>
          <a:p>
            <a:pPr algn="ctr"/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1901952" y="4933188"/>
            <a:ext cx="580644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82296" tIns="27432" bIns="27432"/>
          <a:lstStyle/>
          <a:p>
            <a:pPr algn="l">
              <a:spcAft>
                <a:spcPts val="100"/>
              </a:spcAft>
            </a:pPr>
            <a:r>
              <a:rPr sz="98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Supabase PostgREST</a:t>
            </a:r>
          </a:p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슬라이드 본문·설문 결과·페르소나를 REST로 직접 조회, 결과는 캐시 테이블에 upsert</a:t>
            </a:r>
          </a:p>
        </p:txBody>
      </p:sp>
      <p:sp>
        <p:nvSpPr>
          <p:cNvPr id="241" name="Rounded Rectangle 240"/>
          <p:cNvSpPr/>
          <p:nvPr/>
        </p:nvSpPr>
        <p:spPr>
          <a:xfrm>
            <a:off x="384048" y="5623559"/>
            <a:ext cx="1417320" cy="566928"/>
          </a:xfrm>
          <a:prstGeom prst="roundRect">
            <a:avLst>
              <a:gd name="adj" fmla="val 10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54864"/>
          <a:lstStyle/>
          <a:p>
            <a:pPr algn="ctr"/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배포</a:t>
            </a:r>
          </a:p>
        </p:txBody>
      </p:sp>
      <p:sp>
        <p:nvSpPr>
          <p:cNvPr id="242" name="Rounded Rectangle 241"/>
          <p:cNvSpPr/>
          <p:nvPr/>
        </p:nvSpPr>
        <p:spPr>
          <a:xfrm>
            <a:off x="1901952" y="5623559"/>
            <a:ext cx="580644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82296" tIns="27432" bIns="27432"/>
          <a:lstStyle/>
          <a:p>
            <a:pPr algn="l">
              <a:spcAft>
                <a:spcPts val="100"/>
              </a:spcAft>
            </a:pPr>
            <a:r>
              <a:rPr sz="98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Cloud Build → Artifact Registry → Cloud Run</a:t>
            </a:r>
          </a:p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GitHub main 브랜치 push만으로 빌드~배포 자동화 (cloudbuild.yaml, 모노레포 하위 디렉터리 빌드)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8001000" y="1417320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설계 포인트</a:t>
            </a:r>
          </a:p>
        </p:txBody>
      </p:sp>
      <p:sp>
        <p:nvSpPr>
          <p:cNvPr id="244" name="Rounded Rectangle 243"/>
          <p:cNvSpPr/>
          <p:nvPr/>
        </p:nvSpPr>
        <p:spPr>
          <a:xfrm>
            <a:off x="8001000" y="1783080"/>
            <a:ext cx="3803904" cy="1115568"/>
          </a:xfrm>
          <a:prstGeom prst="roundRect">
            <a:avLst>
              <a:gd name="adj" fmla="val 7000"/>
            </a:avLst>
          </a:prstGeom>
          <a:solidFill>
            <a:srgbClr val="EF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82296" tIns="73152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전부 OpenAI로 통일</a:t>
            </a:r>
          </a:p>
          <a:p>
            <a:pPr algn="l">
              <a:lnSpc>
                <a:spcPct val="112000"/>
              </a:lnSpc>
            </a:pPr>
            <a:r>
              <a:rPr sz="83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2026-08-01 Gemini 제거 — 웹검색도 내장 도구를 써서 별도 검색 API 없이 OPENAI_KEY 하나로 운영</a:t>
            </a:r>
          </a:p>
        </p:txBody>
      </p:sp>
      <p:sp>
        <p:nvSpPr>
          <p:cNvPr id="245" name="Rounded Rectangle 244"/>
          <p:cNvSpPr/>
          <p:nvPr/>
        </p:nvSpPr>
        <p:spPr>
          <a:xfrm>
            <a:off x="8001000" y="2999232"/>
            <a:ext cx="3803904" cy="1115568"/>
          </a:xfrm>
          <a:prstGeom prst="roundRect">
            <a:avLst>
              <a:gd name="adj" fmla="val 7000"/>
            </a:avLst>
          </a:prstGeom>
          <a:solidFill>
            <a:srgbClr val="EF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82296" tIns="73152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모델 교체 용이</a:t>
            </a:r>
          </a:p>
          <a:p>
            <a:pPr algn="l">
              <a:lnSpc>
                <a:spcPct val="112000"/>
              </a:lnSpc>
            </a:pPr>
            <a:r>
              <a:rPr sz="83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모델명은 OPENAI_MODEL 환경변수로 코드 변경 없이 교체(기본 gpt-4o), LLM 생성은 llm_provider.py 한 곳에 집중</a:t>
            </a:r>
          </a:p>
        </p:txBody>
      </p:sp>
      <p:sp>
        <p:nvSpPr>
          <p:cNvPr id="246" name="Rounded Rectangle 245"/>
          <p:cNvSpPr/>
          <p:nvPr/>
        </p:nvSpPr>
        <p:spPr>
          <a:xfrm>
            <a:off x="8001000" y="4215384"/>
            <a:ext cx="3803904" cy="1115568"/>
          </a:xfrm>
          <a:prstGeom prst="roundRect">
            <a:avLst>
              <a:gd name="adj" fmla="val 7000"/>
            </a:avLst>
          </a:prstGeom>
          <a:solidFill>
            <a:srgbClr val="EF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82296" tIns="73152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구조화 출력 우선</a:t>
            </a:r>
          </a:p>
          <a:p>
            <a:pPr algn="l">
              <a:lnSpc>
                <a:spcPct val="112000"/>
              </a:lnSpc>
            </a:pPr>
            <a:r>
              <a:rPr sz="83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LLM 응답을 프리폼 텍스트로 파싱하지 않음 — Pydantic 모델 강제로 파싱 실패 리스크 원천 제거</a:t>
            </a:r>
          </a:p>
        </p:txBody>
      </p:sp>
      <p:sp>
        <p:nvSpPr>
          <p:cNvPr id="247" name="Rounded Rectangle 246"/>
          <p:cNvSpPr/>
          <p:nvPr/>
        </p:nvSpPr>
        <p:spPr>
          <a:xfrm>
            <a:off x="8001000" y="5431536"/>
            <a:ext cx="3803904" cy="1115568"/>
          </a:xfrm>
          <a:prstGeom prst="roundRect">
            <a:avLst>
              <a:gd name="adj" fmla="val 7000"/>
            </a:avLst>
          </a:prstGeom>
          <a:solidFill>
            <a:srgbClr val="EF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82296" tIns="73152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4단계 공통 골격</a:t>
            </a:r>
          </a:p>
          <a:p>
            <a:pPr algn="l">
              <a:lnSpc>
                <a:spcPct val="112000"/>
              </a:lnSpc>
            </a:pPr>
            <a:r>
              <a:rPr sz="83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모든 엔드포인트가 인증 → 데이터 조회 → 체인 실행 → JSON 반환의 동일 구조 — 기능 추가가 쉬움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/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/>
              <a:t>AI 기능 공통 호출 구조</a:t>
            </a:r>
            <a:endParaRPr/>
          </a:p>
        </p:txBody>
      </p:sp>
      <p:sp>
        <p:nvSpPr>
          <p:cNvPr id="227" name="Google Shape;227;p15"/>
          <p:cNvSpPr txBox="1"/>
          <p:nvPr>
            <p:ph idx="12" type="sldNum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384048" y="1005840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4개 기능이 동일한 파이프라인을 공유 — 게이트 확인부터 결과 캐시까지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384048" y="1481328"/>
            <a:ext cx="1755648" cy="1234440"/>
          </a:xfrm>
          <a:prstGeom prst="roundRect">
            <a:avLst>
              <a:gd name="adj" fmla="val 5000"/>
            </a:avLst>
          </a:prstGeom>
          <a:solidFill>
            <a:srgbClr val="D9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 tIns="73152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① 버튼 클릭</a:t>
            </a:r>
          </a:p>
          <a:p>
            <a:pPr algn="l">
              <a:lnSpc>
                <a:spcPct val="110000"/>
              </a:lnSpc>
            </a:pPr>
            <a:r>
              <a:rPr sz="760" b="0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강사가 대시보드에서
AI 기능 실행</a:t>
            </a:r>
          </a:p>
        </p:txBody>
      </p:sp>
      <p:cxnSp>
        <p:nvCxnSpPr>
          <p:cNvPr id="230" name="Connector 229"/>
          <p:cNvCxnSpPr/>
          <p:nvPr/>
        </p:nvCxnSpPr>
        <p:spPr>
          <a:xfrm>
            <a:off x="2139696" y="2103120"/>
            <a:ext cx="192024" cy="0"/>
          </a:xfrm>
          <a:prstGeom prst="line">
            <a:avLst/>
          </a:prstGeom>
          <a:ln w="1651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1" name="Rounded Rectangle 230"/>
          <p:cNvSpPr/>
          <p:nvPr/>
        </p:nvSpPr>
        <p:spPr>
          <a:xfrm>
            <a:off x="2331720" y="1481328"/>
            <a:ext cx="1755648" cy="1234440"/>
          </a:xfrm>
          <a:prstGeom prst="roundRect">
            <a:avLst>
              <a:gd name="adj" fmla="val 5000"/>
            </a:avLst>
          </a:prstGeom>
          <a:solidFill>
            <a:srgbClr val="D9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 tIns="73152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② AI_MODE 게이트</a:t>
            </a:r>
          </a:p>
          <a:p>
            <a:pPr algn="l">
              <a:lnSpc>
                <a:spcPct val="110000"/>
              </a:lnSpc>
            </a:pPr>
            <a:r>
              <a:rPr sz="760" b="0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checkAiEnabled_() 확인
OFF면 호출 없이 안내 모달</a:t>
            </a:r>
          </a:p>
        </p:txBody>
      </p:sp>
      <p:cxnSp>
        <p:nvCxnSpPr>
          <p:cNvPr id="232" name="Connector 231"/>
          <p:cNvCxnSpPr/>
          <p:nvPr/>
        </p:nvCxnSpPr>
        <p:spPr>
          <a:xfrm>
            <a:off x="4087368" y="2103120"/>
            <a:ext cx="192024" cy="0"/>
          </a:xfrm>
          <a:prstGeom prst="line">
            <a:avLst/>
          </a:prstGeom>
          <a:ln w="1651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Rounded Rectangle 232"/>
          <p:cNvSpPr/>
          <p:nvPr/>
        </p:nvSpPr>
        <p:spPr>
          <a:xfrm>
            <a:off x="4279392" y="1481328"/>
            <a:ext cx="1755648" cy="1234440"/>
          </a:xfrm>
          <a:prstGeom prst="roundRect">
            <a:avLst>
              <a:gd name="adj" fmla="val 5000"/>
            </a:avLst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 tIns="73152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 HTTPS 호출</a:t>
            </a:r>
          </a:p>
          <a:p>
            <a:pPr algn="l">
              <a:lnSpc>
                <a:spcPct val="110000"/>
              </a:lnSpc>
            </a:pPr>
            <a:r>
              <a:rPr sz="76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UrlFetchApp POST
X-API-Key 헤더 인증</a:t>
            </a:r>
          </a:p>
        </p:txBody>
      </p:sp>
      <p:cxnSp>
        <p:nvCxnSpPr>
          <p:cNvPr id="234" name="Connector 233"/>
          <p:cNvCxnSpPr/>
          <p:nvPr/>
        </p:nvCxnSpPr>
        <p:spPr>
          <a:xfrm>
            <a:off x="6035040" y="2103120"/>
            <a:ext cx="192024" cy="0"/>
          </a:xfrm>
          <a:prstGeom prst="line">
            <a:avLst/>
          </a:prstGeom>
          <a:ln w="1651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5" name="Rounded Rectangle 234"/>
          <p:cNvSpPr/>
          <p:nvPr/>
        </p:nvSpPr>
        <p:spPr>
          <a:xfrm>
            <a:off x="6227064" y="1481328"/>
            <a:ext cx="1755648" cy="1234440"/>
          </a:xfrm>
          <a:prstGeom prst="roundRect">
            <a:avLst>
              <a:gd name="adj" fmla="val 5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 tIns="73152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④ 데이터 조회</a:t>
            </a:r>
          </a:p>
          <a:p>
            <a:pPr algn="l">
              <a:lnSpc>
                <a:spcPct val="110000"/>
              </a:lnSpc>
            </a:pPr>
            <a:r>
              <a:rPr sz="76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verify_api_key() 후
Supabase에서 근거 조회</a:t>
            </a:r>
          </a:p>
        </p:txBody>
      </p:sp>
      <p:cxnSp>
        <p:nvCxnSpPr>
          <p:cNvPr id="236" name="Connector 235"/>
          <p:cNvCxnSpPr/>
          <p:nvPr/>
        </p:nvCxnSpPr>
        <p:spPr>
          <a:xfrm>
            <a:off x="7982712" y="2103120"/>
            <a:ext cx="192024" cy="0"/>
          </a:xfrm>
          <a:prstGeom prst="line">
            <a:avLst/>
          </a:prstGeom>
          <a:ln w="1651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Rounded Rectangle 236"/>
          <p:cNvSpPr/>
          <p:nvPr/>
        </p:nvSpPr>
        <p:spPr>
          <a:xfrm>
            <a:off x="8174736" y="1481328"/>
            <a:ext cx="1755648" cy="1234440"/>
          </a:xfrm>
          <a:prstGeom prst="roundRect">
            <a:avLst>
              <a:gd name="adj" fmla="val 5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 tIns="73152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⑤ 체인 실행</a:t>
            </a:r>
          </a:p>
          <a:p>
            <a:pPr algn="l">
              <a:lnSpc>
                <a:spcPct val="110000"/>
              </a:lnSpc>
            </a:pPr>
            <a:r>
              <a:rPr sz="76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chains/*.py LangChain
→ GPT-4o 호출</a:t>
            </a:r>
          </a:p>
        </p:txBody>
      </p:sp>
      <p:cxnSp>
        <p:nvCxnSpPr>
          <p:cNvPr id="238" name="Connector 237"/>
          <p:cNvCxnSpPr/>
          <p:nvPr/>
        </p:nvCxnSpPr>
        <p:spPr>
          <a:xfrm>
            <a:off x="9930384" y="2103120"/>
            <a:ext cx="192024" cy="0"/>
          </a:xfrm>
          <a:prstGeom prst="line">
            <a:avLst/>
          </a:prstGeom>
          <a:ln w="1651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Rounded Rectangle 238"/>
          <p:cNvSpPr/>
          <p:nvPr/>
        </p:nvSpPr>
        <p:spPr>
          <a:xfrm>
            <a:off x="10122408" y="1481328"/>
            <a:ext cx="1755648" cy="1234440"/>
          </a:xfrm>
          <a:prstGeom prst="roundRect">
            <a:avLst>
              <a:gd name="adj" fmla="val 5000"/>
            </a:avLst>
          </a:prstGeom>
          <a:solidFill>
            <a:srgbClr val="3E9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 tIns="73152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⑥ 반환·캐시</a:t>
            </a:r>
          </a:p>
          <a:p>
            <a:pPr algn="l">
              <a:lnSpc>
                <a:spcPct val="110000"/>
              </a:lnSpc>
            </a:pPr>
            <a:r>
              <a:rPr sz="76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결과 표시 + publish-engine
경유 Supabase 캐시 저장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384048" y="292608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엔드포인트별 체인 구성</a:t>
            </a:r>
          </a:p>
        </p:txBody>
      </p:sp>
      <p:graphicFrame>
        <p:nvGraphicFramePr>
          <p:cNvPr id="241" name="Table 240"/>
          <p:cNvGraphicFramePr>
            <a:graphicFrameLocks noGrp="1"/>
          </p:cNvGraphicFramePr>
          <p:nvPr/>
        </p:nvGraphicFramePr>
        <p:xfrm>
          <a:off x="384048" y="3246120"/>
          <a:ext cx="1141171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377440"/>
                <a:gridCol w="4279392"/>
                <a:gridCol w="2651760"/>
              </a:tblGrid>
              <a:tr h="402336">
                <a:tc>
                  <a:txBody>
                    <a:bodyPr wrap="square" lIns="64008" rIns="64008" tIns="27432" bIns="27432" anchor="ctr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>
                    <a:solidFill>
                      <a:srgbClr val="1F456E"/>
                    </a:solidFill>
                  </a:tcPr>
                </a:tc>
                <a:tc>
                  <a:txBody>
                    <a:bodyPr wrap="square" lIns="64008" rIns="64008" tIns="27432" bIns="27432" anchor="ctr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엔드포인트</a:t>
                      </a:r>
                    </a:p>
                  </a:txBody>
                  <a:tcPr>
                    <a:solidFill>
                      <a:srgbClr val="1F456E"/>
                    </a:solidFill>
                  </a:tcPr>
                </a:tc>
                <a:tc>
                  <a:txBody>
                    <a:bodyPr wrap="square" lIns="64008" rIns="64008" tIns="27432" bIns="27432" anchor="ctr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LangChain 구조</a:t>
                      </a:r>
                    </a:p>
                  </a:txBody>
                  <a:tcPr>
                    <a:solidFill>
                      <a:srgbClr val="1F456E"/>
                    </a:solidFill>
                  </a:tcPr>
                </a:tc>
                <a:tc>
                  <a:txBody>
                    <a:bodyPr wrap="square" lIns="64008" rIns="64008" tIns="27432" bIns="27432" anchor="ctr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캐시 정책</a:t>
                      </a:r>
                    </a:p>
                  </a:txBody>
                  <a:tcPr>
                    <a:solidFill>
                      <a:srgbClr val="1F456E"/>
                    </a:solidFill>
                  </a:tcPr>
                </a:tc>
              </a:tr>
              <a:tr h="402336">
                <a:tc>
                  <a:txBody>
                    <a:bodyPr wrap="square" lIns="64008" rIns="64008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80" b="1" i="0">
                          <a:solidFill>
                            <a:srgbClr val="1F456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시험문제 생성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80" b="0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POST /exam-questions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80" b="0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구조화 출력 단발 체인 — 유형×난이도별 프롬프트 + 가상질문 참고자료 주입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80" b="0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캐시 없음 (매번 새로 생성)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 lIns="64008" rIns="64008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80" b="1" i="0">
                          <a:solidFill>
                            <a:srgbClr val="1F456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설문 의견 요약</a:t>
                      </a:r>
                    </a:p>
                  </a:txBody>
                  <a:tcPr>
                    <a:solidFill>
                      <a:srgbClr val="F5F9FC"/>
                    </a:solidFill>
                  </a:tcPr>
                </a:tc>
                <a:tc>
                  <a:txBody>
                    <a:bodyPr wrap="square" lIns="64008" rIns="64008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80" b="0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POST /opinion-summary</a:t>
                      </a:r>
                    </a:p>
                  </a:txBody>
                  <a:tcPr>
                    <a:solidFill>
                      <a:srgbClr val="F5F9FC"/>
                    </a:solidFill>
                  </a:tcPr>
                </a:tc>
                <a:tc>
                  <a:txBody>
                    <a:bodyPr wrap="square" lIns="64008" rIns="64008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80" b="0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단발 체인 — grounding 규칙(숫자 금지·4단계 비율 기준) 프롬프트</a:t>
                      </a:r>
                    </a:p>
                  </a:txBody>
                  <a:tcPr>
                    <a:solidFill>
                      <a:srgbClr val="F5F9FC"/>
                    </a:solidFill>
                  </a:tcPr>
                </a:tc>
                <a:tc>
                  <a:txBody>
                    <a:bodyPr wrap="square" lIns="64008" rIns="64008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80" b="0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캐시 없음 (설문 1회성)</a:t>
                      </a:r>
                    </a:p>
                  </a:txBody>
                  <a:tcPr>
                    <a:solidFill>
                      <a:srgbClr val="F5F9FC"/>
                    </a:solidFill>
                  </a:tcPr>
                </a:tc>
              </a:tr>
              <a:tr h="402336">
                <a:tc>
                  <a:txBody>
                    <a:bodyPr wrap="square" lIns="64008" rIns="64008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80" b="1" i="0">
                          <a:solidFill>
                            <a:srgbClr val="1F456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가상질문 생성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80" b="0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POST /virtual-questions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80" b="0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LangGraph StateGraph — read_batch 루프 + filter_questions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80" b="0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키워드+페르소나당 최신 1건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 lIns="64008" rIns="64008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80" b="1" i="0">
                          <a:solidFill>
                            <a:srgbClr val="1F456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강의자료 평가</a:t>
                      </a:r>
                    </a:p>
                  </a:txBody>
                  <a:tcPr>
                    <a:solidFill>
                      <a:srgbClr val="F5F9FC"/>
                    </a:solidFill>
                  </a:tcPr>
                </a:tc>
                <a:tc>
                  <a:txBody>
                    <a:bodyPr wrap="square" lIns="64008" rIns="64008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80" b="0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POST /lecture-evaluation</a:t>
                      </a:r>
                    </a:p>
                  </a:txBody>
                  <a:tcPr>
                    <a:solidFill>
                      <a:srgbClr val="F5F9FC"/>
                    </a:solidFill>
                  </a:tcPr>
                </a:tc>
                <a:tc>
                  <a:txBody>
                    <a:bodyPr wrap="square" lIns="64008" rIns="64008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80" b="0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구조화 출력 1회 + 웹검색 2단계(조사→재작성) 격리 호출</a:t>
                      </a:r>
                    </a:p>
                  </a:txBody>
                  <a:tcPr>
                    <a:solidFill>
                      <a:srgbClr val="F5F9FC"/>
                    </a:solidFill>
                  </a:tcPr>
                </a:tc>
                <a:tc>
                  <a:txBody>
                    <a:bodyPr wrap="square" lIns="64008" rIns="64008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80" b="0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키워드당 최신 1건</a:t>
                      </a:r>
                    </a:p>
                  </a:txBody>
                  <a:tcPr>
                    <a:solidFill>
                      <a:srgbClr val="F5F9FC"/>
                    </a:solidFill>
                  </a:tcPr>
                </a:tc>
              </a:tr>
            </a:tbl>
          </a:graphicData>
        </a:graphic>
      </p:graphicFrame>
      <p:sp>
        <p:nvSpPr>
          <p:cNvPr id="242" name="Rounded Rectangle 241"/>
          <p:cNvSpPr/>
          <p:nvPr/>
        </p:nvSpPr>
        <p:spPr>
          <a:xfrm>
            <a:off x="384048" y="5623560"/>
            <a:ext cx="11411712" cy="777240"/>
          </a:xfrm>
          <a:prstGeom prst="roundRect">
            <a:avLst>
              <a:gd name="adj" fmla="val 7000"/>
            </a:avLst>
          </a:prstGeom>
          <a:solidFill>
            <a:srgbClr val="FD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82296" tIns="54864"/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실패 처리 원칙   </a:t>
            </a:r>
            <a:r>
              <a:rPr sz="95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오류·타임아웃·쿼터 등 원인 불문, 화면에는 고정 문구만 표시하고 원인은 로그로만 기록 — AI 실패가 수업 흐름을 깨지 않도록 화면에서 흡수 (의견 요약만 예외: 실패 시 학생 답변 원문을 항상 표시)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/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/>
              <a:t>LangGraph 기반 가상질문 생성 그래프</a:t>
            </a:r>
            <a:endParaRPr/>
          </a:p>
        </p:txBody>
      </p:sp>
      <p:sp>
        <p:nvSpPr>
          <p:cNvPr id="227" name="Google Shape;227;p15"/>
          <p:cNvSpPr txBox="1"/>
          <p:nvPr>
            <p:ph idx="12" type="sldNum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384048" y="1005840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"구간별 읽기 → 컨텍스트 누적 → 조건부 반복 → 최종 필터링"을 StateGraph로 명시적으로 표현</a:t>
            </a:r>
          </a:p>
        </p:txBody>
      </p:sp>
      <p:sp>
        <p:nvSpPr>
          <p:cNvPr id="229" name="Oval 228"/>
          <p:cNvSpPr/>
          <p:nvPr/>
        </p:nvSpPr>
        <p:spPr>
          <a:xfrm>
            <a:off x="411480" y="2350008"/>
            <a:ext cx="603504" cy="603504"/>
          </a:xfrm>
          <a:prstGeom prst="ellipse">
            <a:avLst/>
          </a:prstGeom>
          <a:solidFill>
            <a:srgbClr val="1F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START</a:t>
            </a:r>
          </a:p>
        </p:txBody>
      </p:sp>
      <p:cxnSp>
        <p:nvCxnSpPr>
          <p:cNvPr id="230" name="Connector 229"/>
          <p:cNvCxnSpPr/>
          <p:nvPr/>
        </p:nvCxnSpPr>
        <p:spPr>
          <a:xfrm>
            <a:off x="1014984" y="2651760"/>
            <a:ext cx="356616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1" name="Rounded Rectangle 230"/>
          <p:cNvSpPr/>
          <p:nvPr/>
        </p:nvSpPr>
        <p:spPr>
          <a:xfrm>
            <a:off x="1371600" y="2084831"/>
            <a:ext cx="2606040" cy="11338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378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82296" tIns="54864"/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read_batch</a:t>
            </a:r>
          </a:p>
          <a:p>
            <a:pPr algn="l">
              <a:lnSpc>
                <a:spcPct val="105000"/>
              </a:lnSpc>
            </a:pPr>
            <a:r>
              <a:rPr sz="78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Part N 본문 + 누적 컨텍스트를 프롬프트에 담아 구조화 출력 호출 → {questions, batch_summary}</a:t>
            </a:r>
          </a:p>
        </p:txBody>
      </p:sp>
      <p:cxnSp>
        <p:nvCxnSpPr>
          <p:cNvPr id="232" name="Connector 231"/>
          <p:cNvCxnSpPr/>
          <p:nvPr/>
        </p:nvCxnSpPr>
        <p:spPr>
          <a:xfrm>
            <a:off x="3977639" y="2651760"/>
            <a:ext cx="457201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Diamond 232"/>
          <p:cNvSpPr/>
          <p:nvPr/>
        </p:nvSpPr>
        <p:spPr>
          <a:xfrm>
            <a:off x="4434840" y="2084831"/>
            <a:ext cx="1600200" cy="1133856"/>
          </a:xfrm>
          <a:prstGeom prst="diamond">
            <a:avLst/>
          </a:prstGeom>
          <a:solidFill>
            <a:srgbClr val="D9E8F5"/>
          </a:solidFill>
          <a:ln w="15240">
            <a:solidFill>
              <a:srgbClr val="378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/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남은 구간
있음?</a:t>
            </a:r>
          </a:p>
        </p:txBody>
      </p:sp>
      <p:cxnSp>
        <p:nvCxnSpPr>
          <p:cNvPr id="234" name="Connector 233"/>
          <p:cNvCxnSpPr/>
          <p:nvPr/>
        </p:nvCxnSpPr>
        <p:spPr>
          <a:xfrm flipV="1">
            <a:off x="5230368" y="1481328"/>
            <a:ext cx="0" cy="603503"/>
          </a:xfrm>
          <a:prstGeom prst="line">
            <a:avLst/>
          </a:prstGeom>
          <a:ln w="19050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H="1">
            <a:off x="2670048" y="1481328"/>
            <a:ext cx="2560320" cy="0"/>
          </a:xfrm>
          <a:prstGeom prst="line">
            <a:avLst/>
          </a:prstGeom>
          <a:ln w="19050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>
            <a:off x="2670048" y="1481328"/>
            <a:ext cx="0" cy="603503"/>
          </a:xfrm>
          <a:prstGeom prst="line">
            <a:avLst/>
          </a:prstGeom>
          <a:ln w="19050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TextBox 236"/>
          <p:cNvSpPr txBox="1"/>
          <p:nvPr/>
        </p:nvSpPr>
        <p:spPr>
          <a:xfrm>
            <a:off x="3017520" y="153619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예 — batch_index+1 (다음 구간 반복)</a:t>
            </a:r>
          </a:p>
        </p:txBody>
      </p:sp>
      <p:cxnSp>
        <p:nvCxnSpPr>
          <p:cNvPr id="238" name="Connector 237"/>
          <p:cNvCxnSpPr/>
          <p:nvPr/>
        </p:nvCxnSpPr>
        <p:spPr>
          <a:xfrm>
            <a:off x="6035040" y="2651760"/>
            <a:ext cx="50292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TextBox 238"/>
          <p:cNvSpPr txBox="1"/>
          <p:nvPr/>
        </p:nvSpPr>
        <p:spPr>
          <a:xfrm>
            <a:off x="5943600" y="276148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아니오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6537960" y="2084831"/>
            <a:ext cx="2651760" cy="11338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378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82296" tIns="54864"/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filter_questions</a:t>
            </a:r>
          </a:p>
          <a:p>
            <a:pPr algn="l">
              <a:lnSpc>
                <a:spcPct val="105000"/>
              </a:lnSpc>
            </a:pPr>
            <a:r>
              <a:rPr sz="78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전 구간에서 모인 질문을 한 번에 놓고 중복·유사 질문을 정리한 최종본 생성</a:t>
            </a:r>
          </a:p>
        </p:txBody>
      </p:sp>
      <p:cxnSp>
        <p:nvCxnSpPr>
          <p:cNvPr id="241" name="Connector 240"/>
          <p:cNvCxnSpPr/>
          <p:nvPr/>
        </p:nvCxnSpPr>
        <p:spPr>
          <a:xfrm>
            <a:off x="9189720" y="2651760"/>
            <a:ext cx="41148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Oval 241"/>
          <p:cNvSpPr/>
          <p:nvPr/>
        </p:nvSpPr>
        <p:spPr>
          <a:xfrm>
            <a:off x="9601200" y="2350008"/>
            <a:ext cx="603504" cy="603504"/>
          </a:xfrm>
          <a:prstGeom prst="ellipse">
            <a:avLst/>
          </a:prstGeom>
          <a:solidFill>
            <a:srgbClr val="1F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END</a:t>
            </a:r>
          </a:p>
        </p:txBody>
      </p:sp>
      <p:sp>
        <p:nvSpPr>
          <p:cNvPr id="243" name="Rounded Rectangle 242"/>
          <p:cNvSpPr/>
          <p:nvPr/>
        </p:nvSpPr>
        <p:spPr>
          <a:xfrm>
            <a:off x="10469880" y="1481328"/>
            <a:ext cx="1417320" cy="2340864"/>
          </a:xfrm>
          <a:prstGeom prst="roundRect">
            <a:avLst>
              <a:gd name="adj" fmla="val 6000"/>
            </a:avLst>
          </a:prstGeom>
          <a:solidFill>
            <a:srgbClr val="EF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82296" tIns="73152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State</a:t>
            </a:r>
          </a:p>
          <a:p>
            <a:pPr algn="l">
              <a:lnSpc>
                <a:spcPct val="115000"/>
              </a:lnSpc>
            </a:pPr>
            <a:r>
              <a:rPr sz="73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persona_prompt
batches (Part1~3)
batch_index
use_summary
context_text /
context_summaries
all_questions
final_questions</a:t>
            </a:r>
          </a:p>
        </p:txBody>
      </p:sp>
      <p:sp>
        <p:nvSpPr>
          <p:cNvPr id="244" name="Rounded Rectangle 243"/>
          <p:cNvSpPr/>
          <p:nvPr/>
        </p:nvSpPr>
        <p:spPr>
          <a:xfrm>
            <a:off x="384048" y="4434840"/>
            <a:ext cx="3675887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82296" tIns="109728"/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컨텍스트 누적 전략</a:t>
            </a:r>
          </a:p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슬라이드 50장 이하: 지나온 구간 원문을 그대로 누적
50장 초과: 원문 대신 구간 요약(batch_summary)만 누적 — 별도 요약 호출 없이 토큰 절약</a:t>
            </a:r>
          </a:p>
        </p:txBody>
      </p:sp>
      <p:sp>
        <p:nvSpPr>
          <p:cNvPr id="245" name="Rounded Rectangle 244"/>
          <p:cNvSpPr/>
          <p:nvPr/>
        </p:nvSpPr>
        <p:spPr>
          <a:xfrm>
            <a:off x="4251960" y="4434840"/>
            <a:ext cx="3675887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82296" tIns="109728"/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"질문 없음"도 정상 결과</a:t>
            </a:r>
          </a:p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의미 있는 내용이 없거나 이미 다룬 내용과 겹치면 억지로 생성하지 않음 — 의견 요약에서 겪은 hallucination 패턴의 재발 방지</a:t>
            </a:r>
          </a:p>
        </p:txBody>
      </p:sp>
      <p:sp>
        <p:nvSpPr>
          <p:cNvPr id="246" name="Rounded Rectangle 245"/>
          <p:cNvSpPr/>
          <p:nvPr/>
        </p:nvSpPr>
        <p:spPr>
          <a:xfrm>
            <a:off x="8119872" y="4434840"/>
            <a:ext cx="3675887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82296" tIns="109728"/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페르소나 = 데이터</a:t>
            </a:r>
          </a:p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4종 페르소나(초심자·비전공·전공이론파·실무경험자)를 virtual_question_personas 테이블로 관리 — 추가·수정에 코드 변경 불필요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/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/>
              <a:t>강의자료 평가 — 4단계 파이프라인</a:t>
            </a:r>
            <a:endParaRPr/>
          </a:p>
        </p:txBody>
      </p:sp>
      <p:sp>
        <p:nvSpPr>
          <p:cNvPr id="227" name="Google Shape;227;p15"/>
          <p:cNvSpPr txBox="1"/>
          <p:nvPr>
            <p:ph idx="12" type="sldNum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384048" y="1005840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핵심 평가와 부가 기능(웹검색)을 구조적으로 격리 — 부가 기능이 죽어도 핵심은 살아남는 설계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384048" y="1481328"/>
            <a:ext cx="265176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3E9B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82296" tIns="91440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3E9B6F"/>
                </a:solidFill>
                <a:latin typeface="맑은 고딕"/>
                <a:ea typeface="맑은 고딕"/>
                <a:cs typeface="맑은 고딕"/>
              </a:rPr>
              <a:t>① evidence_basis</a:t>
            </a:r>
          </a:p>
          <a:p>
            <a:pPr algn="l">
              <a:lnSpc>
                <a:spcPct val="112000"/>
              </a:lnSpc>
            </a:pPr>
            <a:r>
              <a:rPr sz="83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LLM 아님 — 파이썬 코드가 조회 결과 개수를 직접 조립해 근거를 명시</a:t>
            </a:r>
          </a:p>
        </p:txBody>
      </p:sp>
      <p:cxnSp>
        <p:nvCxnSpPr>
          <p:cNvPr id="230" name="Connector 229"/>
          <p:cNvCxnSpPr/>
          <p:nvPr/>
        </p:nvCxnSpPr>
        <p:spPr>
          <a:xfrm>
            <a:off x="3035808" y="2167128"/>
            <a:ext cx="246888" cy="0"/>
          </a:xfrm>
          <a:prstGeom prst="line">
            <a:avLst/>
          </a:prstGeom>
          <a:ln w="1778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1" name="Rounded Rectangle 230"/>
          <p:cNvSpPr/>
          <p:nvPr/>
        </p:nvSpPr>
        <p:spPr>
          <a:xfrm>
            <a:off x="3282696" y="1481328"/>
            <a:ext cx="265176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378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82296" tIns="91440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② _generate_core</a:t>
            </a:r>
          </a:p>
          <a:p>
            <a:pPr algn="l">
              <a:lnSpc>
                <a:spcPct val="112000"/>
              </a:lnSpc>
            </a:pPr>
            <a:r>
              <a:rPr sz="83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구조화 출력 1회 — structure_review(항상) · learner_signal_review(설문/가상질문 있을 때만) · suggestions</a:t>
            </a:r>
          </a:p>
        </p:txBody>
      </p:sp>
      <p:cxnSp>
        <p:nvCxnSpPr>
          <p:cNvPr id="232" name="Connector 231"/>
          <p:cNvCxnSpPr/>
          <p:nvPr/>
        </p:nvCxnSpPr>
        <p:spPr>
          <a:xfrm>
            <a:off x="5934456" y="2167128"/>
            <a:ext cx="246888" cy="0"/>
          </a:xfrm>
          <a:prstGeom prst="line">
            <a:avLst/>
          </a:prstGeom>
          <a:ln w="1778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Rounded Rectangle 232"/>
          <p:cNvSpPr/>
          <p:nvPr/>
        </p:nvSpPr>
        <p:spPr>
          <a:xfrm>
            <a:off x="6181344" y="1481328"/>
            <a:ext cx="265176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82296" tIns="91440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③ currency_review</a:t>
            </a:r>
          </a:p>
          <a:p>
            <a:pPr algn="l">
              <a:lnSpc>
                <a:spcPct val="112000"/>
              </a:lnSpc>
            </a:pPr>
            <a:r>
              <a:rPr sz="83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완전 부가 기능 — 최상위 try/except로 감싸 어떤 오류든 None으로 수렴</a:t>
            </a:r>
          </a:p>
        </p:txBody>
      </p:sp>
      <p:cxnSp>
        <p:nvCxnSpPr>
          <p:cNvPr id="234" name="Connector 233"/>
          <p:cNvCxnSpPr/>
          <p:nvPr/>
        </p:nvCxnSpPr>
        <p:spPr>
          <a:xfrm>
            <a:off x="8833104" y="2167128"/>
            <a:ext cx="246888" cy="0"/>
          </a:xfrm>
          <a:prstGeom prst="line">
            <a:avLst/>
          </a:prstGeom>
          <a:ln w="1778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5" name="Rounded Rectangle 234"/>
          <p:cNvSpPr/>
          <p:nvPr/>
        </p:nvSpPr>
        <p:spPr>
          <a:xfrm>
            <a:off x="9079992" y="1481328"/>
            <a:ext cx="265176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F4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82296" tIns="91440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④ 결과 합성·저장</a:t>
            </a:r>
          </a:p>
          <a:p>
            <a:pPr algn="l">
              <a:lnSpc>
                <a:spcPct val="112000"/>
              </a:lnSpc>
            </a:pPr>
            <a:r>
              <a:rPr sz="83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네 값을 합쳐 lecture_evaluations 테이블에 upsert (키워드당 최신 1건)</a:t>
            </a:r>
          </a:p>
        </p:txBody>
      </p:sp>
      <p:cxnSp>
        <p:nvCxnSpPr>
          <p:cNvPr id="236" name="Connector 235"/>
          <p:cNvCxnSpPr/>
          <p:nvPr/>
        </p:nvCxnSpPr>
        <p:spPr>
          <a:xfrm>
            <a:off x="6665976" y="2852928"/>
            <a:ext cx="0" cy="347472"/>
          </a:xfrm>
          <a:prstGeom prst="line">
            <a:avLst/>
          </a:prstGeom>
          <a:ln w="17780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Rounded Rectangle 236"/>
          <p:cNvSpPr/>
          <p:nvPr/>
        </p:nvSpPr>
        <p:spPr>
          <a:xfrm>
            <a:off x="1463040" y="3200400"/>
            <a:ext cx="9326880" cy="1600200"/>
          </a:xfrm>
          <a:prstGeom prst="roundRect">
            <a:avLst>
              <a:gd name="adj" fmla="val 5000"/>
            </a:avLst>
          </a:prstGeom>
          <a:solidFill>
            <a:srgbClr val="FDF4EE"/>
          </a:solidFill>
          <a:ln w="1270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1645920" y="32918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③ 내부 — 웹검색 2단계 분리 (지시 순응도 문제의 해결책, PART 05 사례 ②)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1691640" y="3639312"/>
            <a:ext cx="420624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82296" tIns="64008"/>
          <a:lstStyle/>
          <a:p>
            <a:pPr algn="l">
              <a:spcAft>
                <a:spcPts val="200"/>
              </a:spcAft>
            </a:pPr>
            <a:r>
              <a:rPr sz="98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(a) 검색 전용 호출</a:t>
            </a:r>
          </a:p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web_search_preview 도구 바인딩 · 언어/형식 지시 없음 · 25초 하드 타임아웃 · 429 시 3초 후 1회 재시도 · 특이사항 없으면 "NONE"→None</a:t>
            </a:r>
          </a:p>
        </p:txBody>
      </p:sp>
      <p:cxnSp>
        <p:nvCxnSpPr>
          <p:cNvPr id="240" name="Connector 239"/>
          <p:cNvCxnSpPr/>
          <p:nvPr/>
        </p:nvCxnSpPr>
        <p:spPr>
          <a:xfrm>
            <a:off x="5897880" y="4142232"/>
            <a:ext cx="274320" cy="0"/>
          </a:xfrm>
          <a:prstGeom prst="line">
            <a:avLst/>
          </a:prstGeom>
          <a:ln w="17780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1" name="Rounded Rectangle 240"/>
          <p:cNvSpPr/>
          <p:nvPr/>
        </p:nvSpPr>
        <p:spPr>
          <a:xfrm>
            <a:off x="6172200" y="3639312"/>
            <a:ext cx="420624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82296" tIns="64008"/>
          <a:lstStyle/>
          <a:p>
            <a:pPr algn="l">
              <a:spcAft>
                <a:spcPts val="200"/>
              </a:spcAft>
            </a:pPr>
            <a:r>
              <a:rPr sz="98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(b) 재작성 전용 호출</a:t>
            </a:r>
          </a:p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검색 도구 없는 순수 지시-따르기 호출 — 원시 조사 결과를 한국어 요약 의견으로 재작성 · 마크다운 링크는 정규식으로 한 번 더 제거(안전망)</a:t>
            </a:r>
          </a:p>
        </p:txBody>
      </p:sp>
      <p:sp>
        <p:nvSpPr>
          <p:cNvPr id="242" name="Rounded Rectangle 241"/>
          <p:cNvSpPr/>
          <p:nvPr/>
        </p:nvSpPr>
        <p:spPr>
          <a:xfrm>
            <a:off x="384048" y="5074920"/>
            <a:ext cx="5029200" cy="1325880"/>
          </a:xfrm>
          <a:prstGeom prst="roundRect">
            <a:avLst>
              <a:gd name="adj" fmla="val 6000"/>
            </a:avLst>
          </a:prstGeom>
          <a:solidFill>
            <a:srgbClr val="EF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82296" tIns="91440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입력 데이터 (Supabase 조회)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슬라이드 본문(slide_contents) + 실시간 설문 결과(survey_results) + 페르소나별 가상질문(virtual_questions) — 학습자 신호까지 근거로 활용</a:t>
            </a:r>
          </a:p>
        </p:txBody>
      </p:sp>
      <p:sp>
        <p:nvSpPr>
          <p:cNvPr id="243" name="Rounded Rectangle 242"/>
          <p:cNvSpPr/>
          <p:nvPr/>
        </p:nvSpPr>
        <p:spPr>
          <a:xfrm>
            <a:off x="5687568" y="5074920"/>
            <a:ext cx="6108192" cy="1325880"/>
          </a:xfrm>
          <a:prstGeom prst="roundRect">
            <a:avLst>
              <a:gd name="adj" fmla="val 6000"/>
            </a:avLst>
          </a:prstGeom>
          <a:solidFill>
            <a:srgbClr val="EF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82296" tIns="91440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실패 격리 설계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웹검색 쪽에서 아직 겪어보지 못한 새 오류가 나도 예외를 던지지 않고 항상 None으로 수렴 → 핵심 평가는 유지되고 해당 섹션만 조용히 생략 — 개별 패치 없이 자동 처리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3"/>
          <p:cNvPicPr preferRelativeResize="0"/>
          <p:nvPr/>
        </p:nvPicPr>
        <p:blipFill rotWithShape="1">
          <a:blip r:embed="rId3">
            <a:alphaModFix/>
          </a:blip>
          <a:srcRect b="5000" l="0" r="0" t="4999"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3"/>
          <p:cNvSpPr/>
          <p:nvPr/>
        </p:nvSpPr>
        <p:spPr>
          <a:xfrm>
            <a:off x="4471026" y="3062808"/>
            <a:ext cx="3763404" cy="5233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설계 검증 · 비교 사례</a:t>
            </a:r>
            <a:endParaRPr b="1" i="0" sz="2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3"/>
          <p:cNvSpPr txBox="1"/>
          <p:nvPr>
            <p:ph type="title"/>
          </p:nvPr>
        </p:nvSpPr>
        <p:spPr>
          <a:xfrm>
            <a:off x="4214297" y="2295634"/>
            <a:ext cx="4276863" cy="7067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lang="en-US"/>
              <a:t>PART 05</a:t>
            </a:r>
            <a:endParaRPr/>
          </a:p>
        </p:txBody>
      </p:sp>
      <p:sp>
        <p:nvSpPr>
          <p:cNvPr id="115" name="Google Shape;115;p13"/>
          <p:cNvSpPr txBox="1"/>
          <p:nvPr>
            <p:ph idx="1" type="body"/>
          </p:nvPr>
        </p:nvSpPr>
        <p:spPr>
          <a:xfrm>
            <a:off x="2212848" y="3767328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en-US" sz="1250">
                <a:solidFill>
                  <a:srgbClr val="595959"/>
                </a:solidFill>
              </a:rPr>
              <a:t>반복된 실패가 설계를 바꾼 과정 — 개발 기록 기반 AS-IS / TO-BE 비교</a:t>
            </a:r>
            <a:endParaRPr/>
          </a:p>
        </p:txBody>
      </p:sp>
      <p:sp>
        <p:nvSpPr>
          <p:cNvPr id="116" name="Google Shape;116;p13"/>
          <p:cNvSpPr txBox="1"/>
          <p:nvPr>
            <p:ph idx="12" type="sldNum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/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/>
              <a:t>사례 ① — 가상질문 생성: 4페르소나 동시 → 1명 온디맨드</a:t>
            </a:r>
            <a:endParaRPr/>
          </a:p>
        </p:txBody>
      </p:sp>
      <p:sp>
        <p:nvSpPr>
          <p:cNvPr id="227" name="Google Shape;227;p15"/>
          <p:cNvSpPr txBox="1"/>
          <p:nvPr>
            <p:ph idx="12" type="sldNum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384048" y="1005840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요구사항에서 아키텍처까지 — 설계가 세 번 바뀐 과정과 그 이유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384048" y="1463040"/>
            <a:ext cx="356616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82296" tIns="82296"/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8A8A8A"/>
                </a:solidFill>
                <a:latin typeface="맑은 고딕"/>
                <a:ea typeface="맑은 고딕"/>
                <a:cs typeface="맑은 고딕"/>
              </a:rPr>
              <a:t>설계 1  ·  폐기</a:t>
            </a:r>
          </a:p>
          <a:p>
            <a:pPr algn="l">
              <a:spcAft>
                <a:spcPts val="300"/>
              </a:spcAft>
            </a:pPr>
            <a:r>
              <a:rPr sz="108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교사+학생 상호작용 시뮬레이션</a:t>
            </a:r>
          </a:p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강사 응답을 시뮬레이션하는 절반의 로직이 목적("어디서 막히는가" 파악)에 불필요한 복잡도</a:t>
            </a:r>
          </a:p>
        </p:txBody>
      </p:sp>
      <p:cxnSp>
        <p:nvCxnSpPr>
          <p:cNvPr id="230" name="Connector 229"/>
          <p:cNvCxnSpPr/>
          <p:nvPr/>
        </p:nvCxnSpPr>
        <p:spPr>
          <a:xfrm>
            <a:off x="3950208" y="2258568"/>
            <a:ext cx="237744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1" name="Rounded Rectangle 230"/>
          <p:cNvSpPr/>
          <p:nvPr/>
        </p:nvSpPr>
        <p:spPr>
          <a:xfrm>
            <a:off x="4187952" y="1463040"/>
            <a:ext cx="356616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82296" tIns="82296"/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설계 2  ·  한계</a:t>
            </a:r>
          </a:p>
          <a:p>
            <a:pPr algn="l">
              <a:spcAft>
                <a:spcPts val="300"/>
              </a:spcAft>
            </a:pPr>
            <a:r>
              <a:rPr sz="108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배치 × 4페르소나 동시 생성</a:t>
            </a:r>
          </a:p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최악 40회 호출(배치 10 × 페르소나 4) — Cloud Run 300초·GAS 6분 한도 위협 + 가장 느린 체인에 종속되는 병렬 조율 문제</a:t>
            </a:r>
          </a:p>
        </p:txBody>
      </p:sp>
      <p:cxnSp>
        <p:nvCxnSpPr>
          <p:cNvPr id="232" name="Connector 231"/>
          <p:cNvCxnSpPr/>
          <p:nvPr/>
        </p:nvCxnSpPr>
        <p:spPr>
          <a:xfrm>
            <a:off x="7754112" y="2258568"/>
            <a:ext cx="237744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Rounded Rectangle 232"/>
          <p:cNvSpPr/>
          <p:nvPr/>
        </p:nvSpPr>
        <p:spPr>
          <a:xfrm>
            <a:off x="7991856" y="1463040"/>
            <a:ext cx="356616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378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82296" tIns="82296"/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설계 3  ·  확정</a:t>
            </a:r>
          </a:p>
          <a:p>
            <a:pPr algn="l">
              <a:spcAft>
                <a:spcPts val="300"/>
              </a:spcAft>
            </a:pPr>
            <a:r>
              <a:rPr sz="108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학생 1명 단일 요청 온디맨드</a:t>
            </a:r>
          </a:p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학생 선택 시마다 1개 체인만 실행 — Part 1~3 고정 3구간, 호출 4회, 약 16~20초(한도 대비 3배 여유)</a:t>
            </a:r>
          </a:p>
        </p:txBody>
      </p:sp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384048" y="3291840"/>
          <a:ext cx="11411712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562856"/>
                <a:gridCol w="4562856"/>
              </a:tblGrid>
              <a:tr h="420624">
                <a:tc>
                  <a:txBody>
                    <a:bodyPr wrap="square" lIns="64008" rIns="64008" tIns="27432" bIns="27432" anchor="ctr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>
                    <a:solidFill>
                      <a:srgbClr val="1F456E"/>
                    </a:solidFill>
                  </a:tcPr>
                </a:tc>
                <a:tc>
                  <a:txBody>
                    <a:bodyPr wrap="square" lIns="64008" rIns="64008" tIns="27432" bIns="27432" anchor="ctr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AS-IS — 4페르소나 동시 생성</a:t>
                      </a:r>
                    </a:p>
                  </a:txBody>
                  <a:tcPr>
                    <a:solidFill>
                      <a:srgbClr val="8A8A8A"/>
                    </a:solidFill>
                  </a:tcPr>
                </a:tc>
                <a:tc>
                  <a:txBody>
                    <a:bodyPr wrap="square" lIns="64008" rIns="64008" tIns="27432" bIns="27432" anchor="ctr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TO-BE — 1페르소나 온디맨드</a:t>
                      </a:r>
                    </a:p>
                  </a:txBody>
                  <a:tcPr>
                    <a:solidFill>
                      <a:srgbClr val="3786BB"/>
                    </a:solidFill>
                  </a:tcPr>
                </a:tc>
              </a:tr>
              <a:tr h="420624">
                <a:tc>
                  <a:txBody>
                    <a:bodyPr wrap="square" lIns="64008" rIns="64008" tIns="27432" bIns="27432" anchor="ctr"/>
                    <a:lstStyle/>
                    <a:p>
                      <a:pPr algn="l"/>
                      <a:r>
                        <a:rPr sz="880" b="1" i="0">
                          <a:solidFill>
                            <a:srgbClr val="1F456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요청 단위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80" b="0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버튼 1회 → 4개 체인 동시 실행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80" b="1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 선택 시마다 1개 체인 실행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64008" rIns="64008" tIns="27432" bIns="27432" anchor="ctr"/>
                    <a:lstStyle/>
                    <a:p>
                      <a:pPr algn="l"/>
                      <a:r>
                        <a:rPr sz="880" b="1" i="0">
                          <a:solidFill>
                            <a:srgbClr val="1F456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호출 횟수 (최악)</a:t>
                      </a:r>
                    </a:p>
                  </a:txBody>
                  <a:tcPr>
                    <a:solidFill>
                      <a:srgbClr val="F5F9FC"/>
                    </a:solidFill>
                  </a:tcPr>
                </a:tc>
                <a:tc>
                  <a:txBody>
                    <a:bodyPr wrap="square" lIns="64008" rIns="64008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80" b="0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배치 10개 × 페르소나 4명 = 40회</a:t>
                      </a:r>
                    </a:p>
                  </a:txBody>
                  <a:tcPr>
                    <a:solidFill>
                      <a:srgbClr val="F5F9FC"/>
                    </a:solidFill>
                  </a:tcPr>
                </a:tc>
                <a:tc>
                  <a:txBody>
                    <a:bodyPr wrap="square" lIns="64008" rIns="64008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80" b="1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배치 3회 + 필터링 1회 = 4회</a:t>
                      </a:r>
                    </a:p>
                  </a:txBody>
                  <a:tcPr>
                    <a:solidFill>
                      <a:srgbClr val="F5F9FC"/>
                    </a:solidFill>
                  </a:tcPr>
                </a:tc>
              </a:tr>
              <a:tr h="420624">
                <a:tc>
                  <a:txBody>
                    <a:bodyPr wrap="square" lIns="64008" rIns="64008" tIns="27432" bIns="27432" anchor="ctr"/>
                    <a:lstStyle/>
                    <a:p>
                      <a:pPr algn="l"/>
                      <a:r>
                        <a:rPr sz="880" b="1" i="0">
                          <a:solidFill>
                            <a:srgbClr val="1F456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배치 분할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80" b="0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전체의 10% 동적 분할 (3~15장 clamp)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80" b="1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초/중/후반 3구간(Part 1/2/3) 고정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64008" rIns="64008" tIns="27432" bIns="27432" anchor="ctr"/>
                    <a:lstStyle/>
                    <a:p>
                      <a:pPr algn="l"/>
                      <a:r>
                        <a:rPr sz="880" b="1" i="0">
                          <a:solidFill>
                            <a:srgbClr val="1F456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소요 시간·위험</a:t>
                      </a:r>
                    </a:p>
                  </a:txBody>
                  <a:tcPr>
                    <a:solidFill>
                      <a:srgbClr val="F5F9FC"/>
                    </a:solidFill>
                  </a:tcPr>
                </a:tc>
                <a:tc>
                  <a:txBody>
                    <a:bodyPr wrap="square" lIns="64008" rIns="64008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80" b="0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병렬 조율 필요 — 가장 느린 체인에 종속, 타임아웃 한도 위협</a:t>
                      </a:r>
                    </a:p>
                  </a:txBody>
                  <a:tcPr>
                    <a:solidFill>
                      <a:srgbClr val="F5F9FC"/>
                    </a:solidFill>
                  </a:tcPr>
                </a:tc>
                <a:tc>
                  <a:txBody>
                    <a:bodyPr wrap="square" lIns="64008" rIns="64008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80" b="1" i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 16~20초 (60초 한도 대비 3배 여유) + 캐시 시 즉시 반환</a:t>
                      </a:r>
                    </a:p>
                  </a:txBody>
                  <a:tcPr>
                    <a:solidFill>
                      <a:srgbClr val="F5F9FC"/>
                    </a:solidFill>
                  </a:tcPr>
                </a:tc>
              </a:tr>
            </a:tbl>
          </a:graphicData>
        </a:graphic>
      </p:graphicFrame>
      <p:sp>
        <p:nvSpPr>
          <p:cNvPr id="235" name="Rounded Rectangle 234"/>
          <p:cNvSpPr/>
          <p:nvPr/>
        </p:nvSpPr>
        <p:spPr>
          <a:xfrm>
            <a:off x="384048" y="5715000"/>
            <a:ext cx="11411712" cy="713232"/>
          </a:xfrm>
          <a:prstGeom prst="roundRect">
            <a:avLst>
              <a:gd name="adj" fmla="val 8000"/>
            </a:avLst>
          </a:prstGeom>
          <a:solidFill>
            <a:srgbClr val="1F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54864"/>
          <a:lstStyle/>
          <a:p>
            <a:pPr algn="ctr"/>
            <a:r>
              <a:rPr sz="1000" b="1" i="0">
                <a:solidFill>
                  <a:srgbClr val="9DC6E8"/>
                </a:solidFill>
                <a:latin typeface="맑은 고딕"/>
                <a:ea typeface="맑은 고딕"/>
                <a:cs typeface="맑은 고딕"/>
              </a:rPr>
              <a:t>관점의 전환   </a:t>
            </a:r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병렬 처리를 최적화하는 대신, 병렬이 필요 없도록 요청 단위 자체를 쪼갬  ·  페르소나 정의는 코드 → 테이블(FK)로 이동해 추가 시 코드 변경 불필요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/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/>
              <a:t>사례 ② — 웹검색: 단일 호출 vs 2단계 분리</a:t>
            </a:r>
            <a:endParaRPr/>
          </a:p>
        </p:txBody>
      </p:sp>
      <p:sp>
        <p:nvSpPr>
          <p:cNvPr id="227" name="Google Shape;227;p15"/>
          <p:cNvSpPr txBox="1"/>
          <p:nvPr>
            <p:ph idx="12" type="sldNum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384048" y="1005840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요구 조건: 한국어 작성 · 마크다운 링크 금지 · 목록이 아닌 2~4문장 요약 톤 · 강의 내용과 연결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384048" y="1536192"/>
            <a:ext cx="3566160" cy="205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C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82296" tIns="100584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C03A2B"/>
                </a:solidFill>
                <a:latin typeface="맑은 고딕"/>
                <a:ea typeface="맑은 고딕"/>
                <a:cs typeface="맑은 고딕"/>
              </a:rPr>
              <a:t>1단계 — 인프라 실패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9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TPM 한도 초과로 RateLimitError(429), 이어서 응답 파싱 AttributeError로 전체 요청 500 — 결과 자체가 없음</a:t>
            </a:r>
          </a:p>
          <a:p>
            <a:pPr algn="l">
              <a:lnSpc>
                <a:spcPct val="110000"/>
              </a:lnSpc>
            </a:pPr>
            <a:r>
              <a:rPr sz="800" b="0" i="1">
                <a:solidFill>
                  <a:srgbClr val="8A8A8A"/>
                </a:solidFill>
                <a:latin typeface="맑은 고딕"/>
                <a:ea typeface="맑은 고딕"/>
                <a:cs typeface="맑은 고딕"/>
              </a:rPr>
              <a:t>원인: 원문 재전송(사례 ③) + content가 리스트로 오는 경우 미처리</a:t>
            </a:r>
          </a:p>
        </p:txBody>
      </p:sp>
      <p:cxnSp>
        <p:nvCxnSpPr>
          <p:cNvPr id="230" name="Connector 229"/>
          <p:cNvCxnSpPr/>
          <p:nvPr/>
        </p:nvCxnSpPr>
        <p:spPr>
          <a:xfrm>
            <a:off x="3950208" y="2560320"/>
            <a:ext cx="237744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1" name="Rounded Rectangle 230"/>
          <p:cNvSpPr/>
          <p:nvPr/>
        </p:nvSpPr>
        <p:spPr>
          <a:xfrm>
            <a:off x="4187952" y="1536192"/>
            <a:ext cx="3566160" cy="205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82296" tIns="100584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2단계 — 스타일 미준수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9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호출은 성공했지만 영어 응답 · 글머리 기호 나열 · 마크다운 링크 노출 — 스타일 지시가 지켜지지 않음</a:t>
            </a:r>
          </a:p>
          <a:p>
            <a:pPr algn="l">
              <a:lnSpc>
                <a:spcPct val="110000"/>
              </a:lnSpc>
            </a:pPr>
            <a:r>
              <a:rPr sz="800" b="0" i="1">
                <a:solidFill>
                  <a:srgbClr val="8A8A8A"/>
                </a:solidFill>
                <a:latin typeface="맑은 고딕"/>
                <a:ea typeface="맑은 고딕"/>
                <a:cs typeface="맑은 고딕"/>
              </a:rPr>
              <a:t>"As of August 2, 2026, the latest stable release of PostgreSQL is version 18…"</a:t>
            </a:r>
          </a:p>
        </p:txBody>
      </p:sp>
      <p:cxnSp>
        <p:nvCxnSpPr>
          <p:cNvPr id="232" name="Connector 231"/>
          <p:cNvCxnSpPr/>
          <p:nvPr/>
        </p:nvCxnSpPr>
        <p:spPr>
          <a:xfrm>
            <a:off x="7754112" y="2560320"/>
            <a:ext cx="237744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Rounded Rectangle 232"/>
          <p:cNvSpPr/>
          <p:nvPr/>
        </p:nvSpPr>
        <p:spPr>
          <a:xfrm>
            <a:off x="7991856" y="1536192"/>
            <a:ext cx="3566160" cy="205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3E9B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82296" tIns="100584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E9B6F"/>
                </a:solidFill>
                <a:latin typeface="맑은 고딕"/>
                <a:ea typeface="맑은 고딕"/>
                <a:cs typeface="맑은 고딕"/>
              </a:rPr>
              <a:t>3단계 — 분리 후 성공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9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검색 전용 + 재작성 전용으로 분리 — 한국어 요약 톤, 링크 없음, 강의 주제와 연결된 최신 정보, 실행시간도 단축</a:t>
            </a:r>
          </a:p>
          <a:p>
            <a:pPr algn="l">
              <a:lnSpc>
                <a:spcPct val="110000"/>
              </a:lnSpc>
            </a:pPr>
            <a:r>
              <a:rPr sz="800" b="0" i="1">
                <a:solidFill>
                  <a:srgbClr val="8A8A8A"/>
                </a:solidFill>
                <a:latin typeface="맑은 고딕"/>
                <a:ea typeface="맑은 고딕"/>
                <a:cs typeface="맑은 고딕"/>
              </a:rPr>
              <a:t>"PostgreSQL의 최신 안정 버전은 18.4로…" (한국어 요약 의견)</a:t>
            </a:r>
          </a:p>
        </p:txBody>
      </p:sp>
      <p:sp>
        <p:nvSpPr>
          <p:cNvPr id="234" name="Rounded Rectangle 233"/>
          <p:cNvSpPr/>
          <p:nvPr/>
        </p:nvSpPr>
        <p:spPr>
          <a:xfrm>
            <a:off x="384048" y="3977639"/>
            <a:ext cx="4846320" cy="1600200"/>
          </a:xfrm>
          <a:prstGeom prst="roundRect">
            <a:avLst>
              <a:gd name="adj" fmla="val 6000"/>
            </a:avLst>
          </a:prstGeom>
          <a:solidFill>
            <a:srgbClr val="EF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82296" tIns="91440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원인 분석 — 도구 바인딩이 형식 지시를 밀어냄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검색 도구가 바인딩된 호출에서는 "찾은 내용을 보고하기"라는 도구 본연의 동작이 출력 형식·언어 지시보다 우선되는 경향이 실측으로 반복 확인됨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5504688" y="3977639"/>
            <a:ext cx="6291072" cy="1600200"/>
          </a:xfrm>
          <a:prstGeom prst="roundRect">
            <a:avLst>
              <a:gd name="adj" fmla="val 6000"/>
            </a:avLst>
          </a:prstGeom>
          <a:solidFill>
            <a:srgbClr val="F3F8FC"/>
          </a:solidFill>
          <a:ln w="12700">
            <a:solidFill>
              <a:srgbClr val="378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5687568" y="4087368"/>
            <a:ext cx="5852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786BB"/>
                </a:solidFill>
                <a:latin typeface="맑은 고딕"/>
                <a:ea typeface="맑은 고딕"/>
                <a:cs typeface="맑은 고딕"/>
              </a:rPr>
              <a:t>해결 — 역할을 분리한 2단계 파이프라인</a:t>
            </a:r>
          </a:p>
        </p:txBody>
      </p:sp>
      <p:sp>
        <p:nvSpPr>
          <p:cNvPr id="237" name="Rounded Rectangle 236"/>
          <p:cNvSpPr/>
          <p:nvPr/>
        </p:nvSpPr>
        <p:spPr>
          <a:xfrm>
            <a:off x="5715000" y="4498848"/>
            <a:ext cx="2606040" cy="896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82296" tIns="54864"/>
          <a:lstStyle/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① 검색 전용 호출</a:t>
            </a:r>
          </a:p>
          <a:p>
            <a:pPr algn="l">
              <a:lnSpc>
                <a:spcPct val="105000"/>
              </a:lnSpc>
            </a:pPr>
            <a:r>
              <a:rPr sz="78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도구 바인딩 · 형식 지시 없음
"있는 그대로" 조사만</a:t>
            </a:r>
          </a:p>
        </p:txBody>
      </p:sp>
      <p:cxnSp>
        <p:nvCxnSpPr>
          <p:cNvPr id="238" name="Connector 237"/>
          <p:cNvCxnSpPr/>
          <p:nvPr/>
        </p:nvCxnSpPr>
        <p:spPr>
          <a:xfrm>
            <a:off x="8321040" y="4946904"/>
            <a:ext cx="274320" cy="0"/>
          </a:xfrm>
          <a:prstGeom prst="line">
            <a:avLst/>
          </a:prstGeom>
          <a:ln w="16510">
            <a:solidFill>
              <a:srgbClr val="3786B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Rounded Rectangle 238"/>
          <p:cNvSpPr/>
          <p:nvPr/>
        </p:nvSpPr>
        <p:spPr>
          <a:xfrm>
            <a:off x="8595360" y="4498848"/>
            <a:ext cx="2606040" cy="896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82296" tIns="54864"/>
          <a:lstStyle/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② 재작성 전용 호출</a:t>
            </a:r>
          </a:p>
          <a:p>
            <a:pPr algn="l">
              <a:lnSpc>
                <a:spcPct val="105000"/>
              </a:lnSpc>
            </a:pPr>
            <a:r>
              <a:rPr sz="78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도구 없음 · 순수 지시 따르기
한국어 2~4문장 요약으로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384048" y="5897880"/>
            <a:ext cx="11411712" cy="548640"/>
          </a:xfrm>
          <a:prstGeom prst="roundRect">
            <a:avLst>
              <a:gd name="adj" fmla="val 10000"/>
            </a:avLst>
          </a:prstGeom>
          <a:solidFill>
            <a:srgbClr val="1F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54864"/>
          <a:lstStyle/>
          <a:p>
            <a:pPr algn="ctr"/>
            <a:r>
              <a:rPr sz="1000" b="1" i="0">
                <a:solidFill>
                  <a:srgbClr val="9DC6E8"/>
                </a:solidFill>
                <a:latin typeface="맑은 고딕"/>
                <a:ea typeface="맑은 고딕"/>
                <a:cs typeface="맑은 고딕"/>
              </a:rPr>
              <a:t>설계 원칙   </a:t>
            </a:r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한 호출에 서로 다른 성격의 지시(도구 사용 vs 출력 형식)를 함께 부여하지 않는다 — "한 가지만 잘하면 되는" 호출로 나누면 지시 순응도가 크게 오른다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/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/>
              <a:t>사례 ③ — 원본 재전송 vs 파생 요약 재사용 (토큰 실측)</a:t>
            </a:r>
            <a:endParaRPr/>
          </a:p>
        </p:txBody>
      </p:sp>
      <p:sp>
        <p:nvSpPr>
          <p:cNvPr id="227" name="Google Shape;227;p15"/>
          <p:cNvSpPr txBox="1"/>
          <p:nvPr>
            <p:ph idx="12" type="sldNum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384048" y="1005840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강의자료 평가 1회 실행 안의 두 번째 LLM 호출(웹검색)에 무엇을 입력할 것인가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384048" y="1463040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AS-IS — 슬라이드 전체 원문(143장)을 다시 전송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548640" y="1874519"/>
            <a:ext cx="2845125" cy="566928"/>
          </a:xfrm>
          <a:prstGeom prst="rect">
            <a:avLst/>
          </a:prstGeom>
          <a:solidFill>
            <a:srgbClr val="1F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54864"/>
          <a:lstStyle/>
          <a:p>
            <a:pPr algn="ctr"/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 평가  11,668 토큰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3393765" y="1874519"/>
            <a:ext cx="4595164" cy="566928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54864"/>
          <a:lstStyle/>
          <a:p>
            <a:pPr algn="ctr"/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웹검색(원문 재전송)  18,845 토큰</a:t>
            </a:r>
          </a:p>
        </p:txBody>
      </p:sp>
      <p:cxnSp>
        <p:nvCxnSpPr>
          <p:cNvPr id="232" name="Connector 231"/>
          <p:cNvCxnSpPr/>
          <p:nvPr/>
        </p:nvCxnSpPr>
        <p:spPr>
          <a:xfrm>
            <a:off x="7863840" y="1691640"/>
            <a:ext cx="0" cy="1097280"/>
          </a:xfrm>
          <a:prstGeom prst="line">
            <a:avLst/>
          </a:prstGeom>
          <a:ln w="22225">
            <a:solidFill>
              <a:srgbClr val="C03A2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TextBox 232"/>
          <p:cNvSpPr txBox="1"/>
          <p:nvPr/>
        </p:nvSpPr>
        <p:spPr>
          <a:xfrm>
            <a:off x="6949440" y="148132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C03A2B"/>
                </a:solidFill>
                <a:latin typeface="맑은 고딕"/>
                <a:ea typeface="맑은 고딕"/>
                <a:cs typeface="맑은 고딕"/>
              </a:rPr>
              <a:t>조직 TPM 한도 30,000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48640" y="2532887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03A2B"/>
                </a:solidFill>
                <a:latin typeface="맑은 고딕"/>
                <a:ea typeface="맑은 고딕"/>
                <a:cs typeface="맑은 고딕"/>
              </a:rPr>
              <a:t>합계 30,513 토큰 &gt; 30,000 TPM  →  </a:t>
            </a:r>
            <a:r>
              <a:rPr sz="100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RateLimitError(429) — "1.026초 후 재시도" 안내와 함께 거부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384048" y="306324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TO-BE — 핵심 평가가 이미 만든 요약(structure_review)을 재사용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548640" y="3474720"/>
            <a:ext cx="2845125" cy="566928"/>
          </a:xfrm>
          <a:prstGeom prst="rect">
            <a:avLst/>
          </a:prstGeom>
          <a:solidFill>
            <a:srgbClr val="1F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54864"/>
          <a:lstStyle/>
          <a:p>
            <a:pPr algn="ctr"/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 평가  11,668 토큰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3393765" y="3474720"/>
            <a:ext cx="320040" cy="566928"/>
          </a:xfrm>
          <a:prstGeom prst="rect">
            <a:avLst/>
          </a:prstGeom>
          <a:solidFill>
            <a:srgbClr val="3E9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3805245" y="358444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3E9B6F"/>
                </a:solidFill>
                <a:latin typeface="맑은 고딕"/>
                <a:ea typeface="맑은 고딕"/>
                <a:cs typeface="맑은 고딕"/>
              </a:rPr>
              <a:t>웹검색(파생 요약 재사용) — 수백 토큰 수준  </a:t>
            </a:r>
            <a:r>
              <a:rPr sz="95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한도 내 · 429 미발생</a:t>
            </a:r>
          </a:p>
        </p:txBody>
      </p:sp>
      <p:cxnSp>
        <p:nvCxnSpPr>
          <p:cNvPr id="239" name="Connector 238"/>
          <p:cNvCxnSpPr/>
          <p:nvPr/>
        </p:nvCxnSpPr>
        <p:spPr>
          <a:xfrm>
            <a:off x="7863840" y="3291840"/>
            <a:ext cx="0" cy="914400"/>
          </a:xfrm>
          <a:prstGeom prst="line">
            <a:avLst/>
          </a:prstGeom>
          <a:ln w="22225">
            <a:solidFill>
              <a:srgbClr val="C03A2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0" name="Rounded Rectangle 239"/>
          <p:cNvSpPr/>
          <p:nvPr/>
        </p:nvSpPr>
        <p:spPr>
          <a:xfrm>
            <a:off x="384048" y="4434840"/>
            <a:ext cx="3675887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82296" tIns="82296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웹검색 입력 크기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1" i="0">
                <a:solidFill>
                  <a:srgbClr val="8A8A8A"/>
                </a:solidFill>
                <a:latin typeface="맑은 고딕"/>
                <a:ea typeface="맑은 고딕"/>
                <a:cs typeface="맑은 고딕"/>
              </a:rPr>
              <a:t>AS-IS  </a:t>
            </a:r>
            <a:r>
              <a:rPr sz="85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슬라이드 전체 원문 (~143장, 11,000자+)</a:t>
            </a:r>
          </a:p>
          <a:p>
            <a:pPr algn="l">
              <a:lnSpc>
                <a:spcPct val="110000"/>
              </a:lnSpc>
            </a:pPr>
            <a:r>
              <a:rPr sz="850" b="1" i="0">
                <a:solidFill>
                  <a:srgbClr val="3E9B6F"/>
                </a:solidFill>
                <a:latin typeface="맑은 고딕"/>
                <a:ea typeface="맑은 고딕"/>
                <a:cs typeface="맑은 고딕"/>
              </a:rPr>
              <a:t>TO-BE  </a:t>
            </a:r>
            <a:r>
              <a:rPr sz="850" b="1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구조 검토 요약 1건 (수백 토큰)</a:t>
            </a:r>
          </a:p>
        </p:txBody>
      </p:sp>
      <p:sp>
        <p:nvSpPr>
          <p:cNvPr id="241" name="Rounded Rectangle 240"/>
          <p:cNvSpPr/>
          <p:nvPr/>
        </p:nvSpPr>
        <p:spPr>
          <a:xfrm>
            <a:off x="4251960" y="4434840"/>
            <a:ext cx="3675887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82296" tIns="82296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레이트리밋(429)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1" i="0">
                <a:solidFill>
                  <a:srgbClr val="8A8A8A"/>
                </a:solidFill>
                <a:latin typeface="맑은 고딕"/>
                <a:ea typeface="맑은 고딕"/>
                <a:cs typeface="맑은 고딕"/>
              </a:rPr>
              <a:t>AS-IS  </a:t>
            </a:r>
            <a:r>
              <a:rPr sz="85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발생 — TPM 한도 초과</a:t>
            </a:r>
          </a:p>
          <a:p>
            <a:pPr algn="l">
              <a:lnSpc>
                <a:spcPct val="110000"/>
              </a:lnSpc>
            </a:pPr>
            <a:r>
              <a:rPr sz="850" b="1" i="0">
                <a:solidFill>
                  <a:srgbClr val="3E9B6F"/>
                </a:solidFill>
                <a:latin typeface="맑은 고딕"/>
                <a:ea typeface="맑은 고딕"/>
                <a:cs typeface="맑은 고딕"/>
              </a:rPr>
              <a:t>TO-BE  </a:t>
            </a:r>
            <a:r>
              <a:rPr sz="850" b="1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미발생</a:t>
            </a:r>
          </a:p>
        </p:txBody>
      </p:sp>
      <p:sp>
        <p:nvSpPr>
          <p:cNvPr id="242" name="Rounded Rectangle 241"/>
          <p:cNvSpPr/>
          <p:nvPr/>
        </p:nvSpPr>
        <p:spPr>
          <a:xfrm>
            <a:off x="8119872" y="4434840"/>
            <a:ext cx="3675887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82296" tIns="82296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전체 실행시간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1" i="0">
                <a:solidFill>
                  <a:srgbClr val="8A8A8A"/>
                </a:solidFill>
                <a:latin typeface="맑은 고딕"/>
                <a:ea typeface="맑은 고딕"/>
                <a:cs typeface="맑은 고딕"/>
              </a:rPr>
              <a:t>AS-IS  </a:t>
            </a:r>
            <a:r>
              <a:rPr sz="85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약 40초 (재시도 대기 포함)</a:t>
            </a:r>
          </a:p>
          <a:p>
            <a:pPr algn="l">
              <a:lnSpc>
                <a:spcPct val="110000"/>
              </a:lnSpc>
            </a:pPr>
            <a:r>
              <a:rPr sz="850" b="1" i="0">
                <a:solidFill>
                  <a:srgbClr val="3E9B6F"/>
                </a:solidFill>
                <a:latin typeface="맑은 고딕"/>
                <a:ea typeface="맑은 고딕"/>
                <a:cs typeface="맑은 고딕"/>
              </a:rPr>
              <a:t>TO-BE  </a:t>
            </a:r>
            <a:r>
              <a:rPr sz="850" b="1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이전보다 단축 (실측)</a:t>
            </a:r>
          </a:p>
        </p:txBody>
      </p:sp>
      <p:sp>
        <p:nvSpPr>
          <p:cNvPr id="243" name="Rounded Rectangle 242"/>
          <p:cNvSpPr/>
          <p:nvPr/>
        </p:nvSpPr>
        <p:spPr>
          <a:xfrm>
            <a:off x="384048" y="5870448"/>
            <a:ext cx="11411712" cy="566928"/>
          </a:xfrm>
          <a:prstGeom prst="roundRect">
            <a:avLst>
              <a:gd name="adj" fmla="val 10000"/>
            </a:avLst>
          </a:prstGeom>
          <a:solidFill>
            <a:srgbClr val="1F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54864"/>
          <a:lstStyle/>
          <a:p>
            <a:pPr algn="ctr"/>
            <a:r>
              <a:rPr sz="1000" b="1" i="0">
                <a:solidFill>
                  <a:srgbClr val="9DC6E8"/>
                </a:solidFill>
                <a:latin typeface="맑은 고딕"/>
                <a:ea typeface="맑은 고딕"/>
                <a:cs typeface="맑은 고딕"/>
              </a:rPr>
              <a:t>시사점   </a:t>
            </a:r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재시도 로직은 "증상" 완화, 입력 데이터 축소가 "원인" 제거 — 이미 생성된 파생 데이터의 재사용이 토큰·지연·안정성 모두에서 유리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/>
          <p:nvPr>
            <p:ph type="title"/>
          </p:nvPr>
        </p:nvSpPr>
        <p:spPr>
          <a:xfrm>
            <a:off x="322729" y="365126"/>
            <a:ext cx="11494546" cy="737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/>
              <a:t>종합 인사이트 — 세 사례를 관통하는 설계 원칙</a:t>
            </a:r>
            <a:endParaRPr/>
          </a:p>
        </p:txBody>
      </p:sp>
      <p:sp>
        <p:nvSpPr>
          <p:cNvPr id="227" name="Google Shape;227;p15"/>
          <p:cNvSpPr txBox="1"/>
          <p:nvPr>
            <p:ph idx="12" type="sldNum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384048" y="1005840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개발 과정의 반복된 실패와 실측이 도출한 공통 원칙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384048" y="1600200"/>
            <a:ext cx="55778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85800" rIns="182880" tIns="201168"/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파라미터 조정보다 아키텍처 조정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레이트리밋을 재시도로 완화하기보다 입력 데이터 크기 자체를 줄이는 것이, 병렬 호출을 최적화하기보다 요청 단위를 쪼개는 것이 더 근본적인 해결이었다.</a:t>
            </a:r>
          </a:p>
        </p:txBody>
      </p:sp>
      <p:sp>
        <p:nvSpPr>
          <p:cNvPr id="230" name="Oval 229"/>
          <p:cNvSpPr/>
          <p:nvPr/>
        </p:nvSpPr>
        <p:spPr>
          <a:xfrm>
            <a:off x="530352" y="1801368"/>
            <a:ext cx="402336" cy="402336"/>
          </a:xfrm>
          <a:prstGeom prst="ellipse">
            <a:avLst/>
          </a:prstGeom>
          <a:solidFill>
            <a:srgbClr val="378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6236208" y="1600200"/>
            <a:ext cx="55778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85800" rIns="182880" tIns="201168"/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한 호출에 한 가지 책임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검색과 스타일 준수를 한 호출에 같이 시키면 지시 순응도가 떨어진다. 역할을 분리하면 각 호출이 단순해지고 결과 품질이 올라간다.</a:t>
            </a:r>
          </a:p>
        </p:txBody>
      </p:sp>
      <p:sp>
        <p:nvSpPr>
          <p:cNvPr id="232" name="Oval 231"/>
          <p:cNvSpPr/>
          <p:nvPr/>
        </p:nvSpPr>
        <p:spPr>
          <a:xfrm>
            <a:off x="6382512" y="1801368"/>
            <a:ext cx="402336" cy="402336"/>
          </a:xfrm>
          <a:prstGeom prst="ellipse">
            <a:avLst/>
          </a:prstGeom>
          <a:solidFill>
            <a:srgbClr val="378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384048" y="3657600"/>
            <a:ext cx="55778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85800" rIns="182880" tIns="201168"/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가변적인 것은 데이터로, 고정적인 것은 코드로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페르소나 정의처럼 바뀔 가능성이 높은 부분은 테이블(FK)로 옮기고, 그래프 구조처럼 안정적인 로직만 코드로 남긴다.</a:t>
            </a:r>
          </a:p>
        </p:txBody>
      </p:sp>
      <p:sp>
        <p:nvSpPr>
          <p:cNvPr id="234" name="Oval 233"/>
          <p:cNvSpPr/>
          <p:nvPr/>
        </p:nvSpPr>
        <p:spPr>
          <a:xfrm>
            <a:off x="530352" y="3858768"/>
            <a:ext cx="402336" cy="402336"/>
          </a:xfrm>
          <a:prstGeom prst="ellipse">
            <a:avLst/>
          </a:prstGeom>
          <a:solidFill>
            <a:srgbClr val="378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6236208" y="3657600"/>
            <a:ext cx="55778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7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85800" rIns="182880" tIns="201168"/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실측 없이 확답하지 않는다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호출 횟수·지연시간·토큰량 모두 추정에 그치지 않고 실기기 테스트로 검증한 뒤에야 다음 설계 단계로 넘어갔다.</a:t>
            </a:r>
          </a:p>
        </p:txBody>
      </p:sp>
      <p:sp>
        <p:nvSpPr>
          <p:cNvPr id="236" name="Oval 235"/>
          <p:cNvSpPr/>
          <p:nvPr/>
        </p:nvSpPr>
        <p:spPr>
          <a:xfrm>
            <a:off x="6382512" y="3858768"/>
            <a:ext cx="402336" cy="402336"/>
          </a:xfrm>
          <a:prstGeom prst="ellipse">
            <a:avLst/>
          </a:prstGeom>
          <a:solidFill>
            <a:srgbClr val="378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7" name="Rounded Rectangle 236"/>
          <p:cNvSpPr/>
          <p:nvPr/>
        </p:nvSpPr>
        <p:spPr>
          <a:xfrm>
            <a:off x="384048" y="5806440"/>
            <a:ext cx="11411712" cy="621792"/>
          </a:xfrm>
          <a:prstGeom prst="roundRect">
            <a:avLst>
              <a:gd name="adj" fmla="val 10000"/>
            </a:avLst>
          </a:prstGeom>
          <a:solidFill>
            <a:srgbClr val="EF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54864"/>
          <a:lstStyle/>
          <a:p>
            <a:pPr algn="ctr"/>
            <a:r>
              <a:rPr sz="1000" b="1" i="0">
                <a:solidFill>
                  <a:srgbClr val="1F456E"/>
                </a:solidFill>
                <a:latin typeface="맑은 고딕"/>
                <a:ea typeface="맑은 고딕"/>
                <a:cs typeface="맑은 고딕"/>
              </a:rPr>
              <a:t>향후 확장   </a:t>
            </a:r>
            <a:r>
              <a:rPr sz="1050" b="0" i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이 원칙들은 시스템 C(엑셀 데이터 분석·보고서 자동 생성) 개발과 AI 기능 고도화에도 동일하게 적용할 예정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17"/>
          <p:cNvPicPr preferRelativeResize="0"/>
          <p:nvPr/>
        </p:nvPicPr>
        <p:blipFill rotWithShape="1">
          <a:blip r:embed="rId3">
            <a:alphaModFix/>
          </a:blip>
          <a:srcRect b="10000" l="0" r="0" t="0"/>
          <a:stretch/>
        </p:blipFill>
        <p:spPr>
          <a:xfrm flipH="1"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7"/>
          <p:cNvSpPr/>
          <p:nvPr/>
        </p:nvSpPr>
        <p:spPr>
          <a:xfrm>
            <a:off x="837107" y="2319980"/>
            <a:ext cx="6312167" cy="1139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6800"/>
              <a:buFont typeface="Arial"/>
              <a:buNone/>
            </a:pPr>
            <a:r>
              <a:rPr b="1" i="0" lang="en-US" sz="6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1" i="0" sz="8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7"/>
          <p:cNvSpPr txBox="1"/>
          <p:nvPr>
            <p:ph idx="12" type="sldNum"/>
          </p:nvPr>
        </p:nvSpPr>
        <p:spPr>
          <a:xfrm>
            <a:off x="11353800" y="6639339"/>
            <a:ext cx="831574" cy="218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1" name="TextBox 240"/>
          <p:cNvSpPr txBox="1"/>
          <p:nvPr/>
        </p:nvSpPr>
        <p:spPr>
          <a:xfrm>
            <a:off x="868680" y="3611880"/>
            <a:ext cx="7772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DSA 교육 콘텐츠 관리 플랫폼 — 교육 콘텐츠 웹 뷰어 및 관리 시스템</a:t>
            </a:r>
          </a:p>
          <a:p>
            <a:pPr algn="l"/>
            <a:r>
              <a:rPr sz="1050" b="0" i="0">
                <a:solidFill>
                  <a:srgbClr val="8A8A8A"/>
                </a:solidFill>
                <a:latin typeface="맑은 고딕"/>
                <a:ea typeface="맑은 고딕"/>
                <a:cs typeface="맑은 고딕"/>
              </a:rPr>
              <a:t>박수연 · 박희용  |  GitHub rockfe99/dsacontents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기본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05CA1"/>
      </a:accent1>
      <a:accent2>
        <a:srgbClr val="00A5FF"/>
      </a:accent2>
      <a:accent3>
        <a:srgbClr val="1C4EA5"/>
      </a:accent3>
      <a:accent4>
        <a:srgbClr val="486FB5"/>
      </a:accent4>
      <a:accent5>
        <a:srgbClr val="3AA89E"/>
      </a:accent5>
      <a:accent6>
        <a:srgbClr val="082B53"/>
      </a:accent6>
      <a:hlink>
        <a:srgbClr val="4472C4"/>
      </a:hlink>
      <a:folHlink>
        <a:srgbClr val="BFBFB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